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884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1T13:18:14.605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rgbClr val="08213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08213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0" y="3149600"/>
            <a:ext cx="749300" cy="698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4800" y="3149600"/>
            <a:ext cx="901700" cy="889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01500" y="3149600"/>
            <a:ext cx="927100" cy="8890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03816" y="2751667"/>
            <a:ext cx="0" cy="6989445"/>
          </a:xfrm>
          <a:custGeom>
            <a:avLst/>
            <a:gdLst/>
            <a:ahLst/>
            <a:cxnLst/>
            <a:rect l="l" t="t" r="r" b="b"/>
            <a:pathLst>
              <a:path h="6989445">
                <a:moveTo>
                  <a:pt x="0" y="69892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882216" y="2751667"/>
            <a:ext cx="0" cy="6163945"/>
          </a:xfrm>
          <a:custGeom>
            <a:avLst/>
            <a:gdLst/>
            <a:ahLst/>
            <a:cxnLst/>
            <a:rect l="l" t="t" r="r" b="b"/>
            <a:pathLst>
              <a:path h="6163945">
                <a:moveTo>
                  <a:pt x="0" y="616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63216" y="2751667"/>
            <a:ext cx="0" cy="6163945"/>
          </a:xfrm>
          <a:custGeom>
            <a:avLst/>
            <a:gdLst/>
            <a:ahLst/>
            <a:cxnLst/>
            <a:rect l="l" t="t" r="r" b="b"/>
            <a:pathLst>
              <a:path h="6163945">
                <a:moveTo>
                  <a:pt x="0" y="616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241616" y="2751667"/>
            <a:ext cx="0" cy="6163945"/>
          </a:xfrm>
          <a:custGeom>
            <a:avLst/>
            <a:gdLst/>
            <a:ahLst/>
            <a:cxnLst/>
            <a:rect l="l" t="t" r="r" b="b"/>
            <a:pathLst>
              <a:path h="6163945">
                <a:moveTo>
                  <a:pt x="0" y="616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622616" y="2751667"/>
            <a:ext cx="0" cy="6163945"/>
          </a:xfrm>
          <a:custGeom>
            <a:avLst/>
            <a:gdLst/>
            <a:ahLst/>
            <a:cxnLst/>
            <a:rect l="l" t="t" r="r" b="b"/>
            <a:pathLst>
              <a:path h="6163945">
                <a:moveTo>
                  <a:pt x="0" y="616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601016" y="2751667"/>
            <a:ext cx="0" cy="6163945"/>
          </a:xfrm>
          <a:custGeom>
            <a:avLst/>
            <a:gdLst/>
            <a:ahLst/>
            <a:cxnLst/>
            <a:rect l="l" t="t" r="r" b="b"/>
            <a:pathLst>
              <a:path h="6163945">
                <a:moveTo>
                  <a:pt x="0" y="616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35516" y="5393266"/>
            <a:ext cx="0" cy="3789045"/>
          </a:xfrm>
          <a:custGeom>
            <a:avLst/>
            <a:gdLst/>
            <a:ahLst/>
            <a:cxnLst/>
            <a:rect l="l" t="t" r="r" b="b"/>
            <a:pathLst>
              <a:path h="3789045">
                <a:moveTo>
                  <a:pt x="0" y="37888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322916" y="3158067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8678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6613716" y="198967"/>
            <a:ext cx="0" cy="677545"/>
          </a:xfrm>
          <a:custGeom>
            <a:avLst/>
            <a:gdLst/>
            <a:ahLst/>
            <a:cxnLst/>
            <a:rect l="l" t="t" r="r" b="b"/>
            <a:pathLst>
              <a:path h="677544">
                <a:moveTo>
                  <a:pt x="0" y="6773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6943916" y="618067"/>
            <a:ext cx="0" cy="3954145"/>
          </a:xfrm>
          <a:custGeom>
            <a:avLst/>
            <a:gdLst/>
            <a:ahLst/>
            <a:cxnLst/>
            <a:rect l="l" t="t" r="r" b="b"/>
            <a:pathLst>
              <a:path h="3954145">
                <a:moveTo>
                  <a:pt x="0" y="39539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46100" y="9179983"/>
            <a:ext cx="4690745" cy="0"/>
          </a:xfrm>
          <a:custGeom>
            <a:avLst/>
            <a:gdLst/>
            <a:ahLst/>
            <a:cxnLst/>
            <a:rect l="l" t="t" r="r" b="b"/>
            <a:pathLst>
              <a:path w="4690745">
                <a:moveTo>
                  <a:pt x="0" y="0"/>
                </a:moveTo>
                <a:lnTo>
                  <a:pt x="4690533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700" y="8900583"/>
            <a:ext cx="16603344" cy="0"/>
          </a:xfrm>
          <a:custGeom>
            <a:avLst/>
            <a:gdLst/>
            <a:ahLst/>
            <a:cxnLst/>
            <a:rect l="l" t="t" r="r" b="b"/>
            <a:pathLst>
              <a:path w="16603344">
                <a:moveTo>
                  <a:pt x="0" y="0"/>
                </a:moveTo>
                <a:lnTo>
                  <a:pt x="16603134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89000" y="2779183"/>
            <a:ext cx="15727044" cy="0"/>
          </a:xfrm>
          <a:custGeom>
            <a:avLst/>
            <a:gdLst/>
            <a:ahLst/>
            <a:cxnLst/>
            <a:rect l="l" t="t" r="r" b="b"/>
            <a:pathLst>
              <a:path w="15727044">
                <a:moveTo>
                  <a:pt x="0" y="0"/>
                </a:moveTo>
                <a:lnTo>
                  <a:pt x="15726834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153900" y="620183"/>
            <a:ext cx="4792345" cy="0"/>
          </a:xfrm>
          <a:custGeom>
            <a:avLst/>
            <a:gdLst/>
            <a:ahLst/>
            <a:cxnLst/>
            <a:rect l="l" t="t" r="r" b="b"/>
            <a:pathLst>
              <a:path w="4792344">
                <a:moveTo>
                  <a:pt x="0" y="0"/>
                </a:moveTo>
                <a:lnTo>
                  <a:pt x="4792133" y="0"/>
                </a:lnTo>
              </a:path>
            </a:pathLst>
          </a:custGeom>
          <a:ln w="4233">
            <a:solidFill>
              <a:srgbClr val="343F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333500" y="4011083"/>
            <a:ext cx="855344" cy="0"/>
          </a:xfrm>
          <a:custGeom>
            <a:avLst/>
            <a:gdLst/>
            <a:ahLst/>
            <a:cxnLst/>
            <a:rect l="l" t="t" r="r" b="b"/>
            <a:pathLst>
              <a:path w="855344">
                <a:moveTo>
                  <a:pt x="0" y="0"/>
                </a:moveTo>
                <a:lnTo>
                  <a:pt x="855133" y="0"/>
                </a:lnTo>
              </a:path>
            </a:pathLst>
          </a:custGeom>
          <a:ln w="29633">
            <a:solidFill>
              <a:srgbClr val="0C1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6954500" y="884767"/>
            <a:ext cx="520700" cy="4445"/>
          </a:xfrm>
          <a:custGeom>
            <a:avLst/>
            <a:gdLst/>
            <a:ahLst/>
            <a:cxnLst/>
            <a:rect l="l" t="t" r="r" b="b"/>
            <a:pathLst>
              <a:path w="520700" h="4444">
                <a:moveTo>
                  <a:pt x="520700" y="4233"/>
                </a:moveTo>
                <a:lnTo>
                  <a:pt x="0" y="4233"/>
                </a:lnTo>
                <a:lnTo>
                  <a:pt x="0" y="0"/>
                </a:lnTo>
                <a:lnTo>
                  <a:pt x="520700" y="0"/>
                </a:lnTo>
                <a:lnTo>
                  <a:pt x="520700" y="4233"/>
                </a:lnTo>
                <a:close/>
              </a:path>
            </a:pathLst>
          </a:custGeom>
          <a:solidFill>
            <a:srgbClr val="4F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7416800"/>
            <a:ext cx="2349500" cy="3048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86200" y="0"/>
            <a:ext cx="25400" cy="20320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7300" y="7416800"/>
            <a:ext cx="2349500" cy="3048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42100" y="8140700"/>
            <a:ext cx="1092200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08213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08213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44500"/>
            <a:ext cx="16560800" cy="8978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1275" y="680155"/>
            <a:ext cx="15612649" cy="162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rgbClr val="08213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77" y="2439105"/>
            <a:ext cx="12144375" cy="6453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9422" y="5181600"/>
            <a:ext cx="8449945" cy="98937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7590"/>
              </a:lnSpc>
              <a:spcBef>
                <a:spcPts val="114"/>
              </a:spcBef>
            </a:pPr>
            <a:r>
              <a:rPr lang="en-US" sz="6650" spc="-430" dirty="0">
                <a:solidFill>
                  <a:srgbClr val="0F2B4B"/>
                </a:solidFill>
                <a:latin typeface="Arial MT"/>
                <a:cs typeface="Arial MT"/>
              </a:rPr>
              <a:t>MTA</a:t>
            </a:r>
            <a:r>
              <a:rPr lang="en-US" sz="6650" spc="-470" dirty="0">
                <a:solidFill>
                  <a:srgbClr val="0F2B4B"/>
                </a:solidFill>
                <a:latin typeface="Arial MT"/>
                <a:cs typeface="Arial MT"/>
              </a:rPr>
              <a:t> </a:t>
            </a:r>
            <a:r>
              <a:rPr lang="en-US" sz="6650" spc="-320" dirty="0">
                <a:solidFill>
                  <a:srgbClr val="0E2642"/>
                </a:solidFill>
                <a:latin typeface="Arial MT"/>
                <a:cs typeface="Arial MT"/>
              </a:rPr>
              <a:t>Ridership</a:t>
            </a:r>
            <a:r>
              <a:rPr lang="en-US" sz="6650" spc="-60" dirty="0">
                <a:solidFill>
                  <a:srgbClr val="0E2642"/>
                </a:solidFill>
                <a:latin typeface="Arial MT"/>
                <a:cs typeface="Arial MT"/>
              </a:rPr>
              <a:t> </a:t>
            </a:r>
            <a:r>
              <a:rPr lang="en-US" sz="6650" spc="-400" dirty="0">
                <a:solidFill>
                  <a:srgbClr val="112D4B"/>
                </a:solidFill>
                <a:latin typeface="Arial MT"/>
                <a:cs typeface="Arial MT"/>
              </a:rPr>
              <a:t>Recovery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9422" y="7314141"/>
            <a:ext cx="8110855" cy="19601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solidFill>
                  <a:srgbClr val="6E6E6E"/>
                </a:solidFill>
                <a:latin typeface="Cambria"/>
                <a:cs typeface="Cambria"/>
              </a:rPr>
              <a:t>A</a:t>
            </a:r>
            <a:r>
              <a:rPr sz="3950" spc="-220" dirty="0">
                <a:solidFill>
                  <a:srgbClr val="6E6E6E"/>
                </a:solidFill>
                <a:latin typeface="Cambria"/>
                <a:cs typeface="Cambria"/>
              </a:rPr>
              <a:t> </a:t>
            </a:r>
            <a:r>
              <a:rPr sz="3950" spc="-45" dirty="0">
                <a:solidFill>
                  <a:srgbClr val="6D6D6D"/>
                </a:solidFill>
                <a:latin typeface="Cambria"/>
                <a:cs typeface="Cambria"/>
              </a:rPr>
              <a:t>Power</a:t>
            </a:r>
            <a:r>
              <a:rPr sz="3950" spc="-80" dirty="0">
                <a:solidFill>
                  <a:srgbClr val="6D6D6D"/>
                </a:solidFill>
                <a:latin typeface="Cambria"/>
                <a:cs typeface="Cambria"/>
              </a:rPr>
              <a:t> </a:t>
            </a:r>
            <a:r>
              <a:rPr sz="3950" dirty="0">
                <a:solidFill>
                  <a:srgbClr val="6E6E6E"/>
                </a:solidFill>
                <a:latin typeface="Cambria"/>
                <a:cs typeface="Cambria"/>
              </a:rPr>
              <a:t>BI</a:t>
            </a:r>
            <a:r>
              <a:rPr sz="3950" spc="-220" dirty="0">
                <a:solidFill>
                  <a:srgbClr val="6E6E6E"/>
                </a:solidFill>
                <a:latin typeface="Cambria"/>
                <a:cs typeface="Cambria"/>
              </a:rPr>
              <a:t> </a:t>
            </a:r>
            <a:r>
              <a:rPr sz="3950" spc="-20" dirty="0">
                <a:solidFill>
                  <a:srgbClr val="696969"/>
                </a:solidFill>
                <a:latin typeface="Cambria"/>
                <a:cs typeface="Cambria"/>
              </a:rPr>
              <a:t>Recovery</a:t>
            </a:r>
            <a:r>
              <a:rPr sz="3950" spc="20" dirty="0">
                <a:solidFill>
                  <a:srgbClr val="696969"/>
                </a:solidFill>
                <a:latin typeface="Cambria"/>
                <a:cs typeface="Cambria"/>
              </a:rPr>
              <a:t> </a:t>
            </a:r>
            <a:r>
              <a:rPr sz="3950" dirty="0">
                <a:solidFill>
                  <a:srgbClr val="676767"/>
                </a:solidFill>
                <a:latin typeface="Cambria"/>
                <a:cs typeface="Cambria"/>
              </a:rPr>
              <a:t>Analytics</a:t>
            </a:r>
            <a:r>
              <a:rPr sz="3950" spc="-50" dirty="0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sz="3950" spc="-10" dirty="0">
                <a:solidFill>
                  <a:srgbClr val="696969"/>
                </a:solidFill>
                <a:latin typeface="Cambria"/>
                <a:cs typeface="Cambria"/>
              </a:rPr>
              <a:t>Project</a:t>
            </a:r>
            <a:endParaRPr lang="en-US" sz="3950" spc="-10" dirty="0">
              <a:solidFill>
                <a:srgbClr val="696969"/>
              </a:solidFill>
              <a:latin typeface="Cambria"/>
              <a:cs typeface="Cambria"/>
            </a:endParaRPr>
          </a:p>
          <a:p>
            <a:pPr marL="33020" algn="ctr">
              <a:lnSpc>
                <a:spcPct val="100000"/>
              </a:lnSpc>
              <a:spcBef>
                <a:spcPts val="3560"/>
              </a:spcBef>
            </a:pPr>
            <a:r>
              <a:rPr lang="en-US" sz="2850" b="1" spc="-20" dirty="0">
                <a:solidFill>
                  <a:srgbClr val="6B6B6B"/>
                </a:solidFill>
                <a:latin typeface="Cambria"/>
                <a:cs typeface="Cambria"/>
              </a:rPr>
              <a:t>Omar</a:t>
            </a:r>
            <a:r>
              <a:rPr lang="en-US" sz="2850" b="1" spc="-135" dirty="0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lang="en-US" sz="2850" b="1" spc="-10" dirty="0">
                <a:solidFill>
                  <a:srgbClr val="6E6E6E"/>
                </a:solidFill>
                <a:latin typeface="Cambria"/>
                <a:cs typeface="Cambria"/>
              </a:rPr>
              <a:t>Gaber</a:t>
            </a:r>
            <a:br>
              <a:rPr lang="en-US" sz="2850" b="1" spc="-10" dirty="0">
                <a:solidFill>
                  <a:srgbClr val="6E6E6E"/>
                </a:solidFill>
                <a:latin typeface="Cambria"/>
                <a:cs typeface="Cambria"/>
              </a:rPr>
            </a:br>
            <a:r>
              <a:rPr lang="en-US" sz="2850" b="1" spc="-10" dirty="0">
                <a:solidFill>
                  <a:srgbClr val="6E6E6E"/>
                </a:solidFill>
                <a:latin typeface="Cambria"/>
                <a:cs typeface="Cambria"/>
              </a:rPr>
              <a:t>Ahmed Mamdouh</a:t>
            </a:r>
            <a:endParaRPr lang="en-US" sz="2850" b="1" dirty="0">
              <a:latin typeface="Cambria"/>
              <a:cs typeface="Cambri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B3E90C-169D-0999-1DD1-503409CB584F}"/>
                  </a:ext>
                </a:extLst>
              </p14:cNvPr>
              <p14:cNvContentPartPr/>
              <p14:nvPr/>
            </p14:nvContentPartPr>
            <p14:xfrm>
              <a:off x="-335400" y="195024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B3E90C-169D-0999-1DD1-503409CB58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89040" y="184224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4826000"/>
            <a:ext cx="1943100" cy="177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0" y="4889500"/>
            <a:ext cx="2120900" cy="1663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03100" y="4826000"/>
            <a:ext cx="1752600" cy="1778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1275" y="680155"/>
            <a:ext cx="15612649" cy="15583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590">
              <a:lnSpc>
                <a:spcPts val="6285"/>
              </a:lnSpc>
              <a:spcBef>
                <a:spcPts val="125"/>
              </a:spcBef>
            </a:pPr>
            <a:r>
              <a:rPr lang="en-US" sz="6000" b="1" dirty="0"/>
              <a:t>Project Overview</a:t>
            </a:r>
            <a:br>
              <a:rPr lang="ar-EG" sz="6000" dirty="0"/>
            </a:br>
            <a:r>
              <a:rPr lang="en-US" sz="4400" dirty="0">
                <a:highlight>
                  <a:srgbClr val="808080"/>
                </a:highlight>
              </a:rPr>
              <a:t>Why This Analysis Matters</a:t>
            </a:r>
            <a:endParaRPr sz="4400" dirty="0">
              <a:highlight>
                <a:srgbClr val="808080"/>
              </a:highlight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612" y="2464152"/>
            <a:ext cx="14629765" cy="1640839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 indent="635" algn="just">
              <a:lnSpc>
                <a:spcPts val="3100"/>
              </a:lnSpc>
              <a:spcBef>
                <a:spcPts val="465"/>
              </a:spcBef>
            </a:pPr>
            <a:r>
              <a:rPr sz="2850" spc="-50" dirty="0">
                <a:solidFill>
                  <a:srgbClr val="2F2F2F"/>
                </a:solidFill>
                <a:latin typeface="Cambria"/>
                <a:cs typeface="Cambria"/>
              </a:rPr>
              <a:t>This</a:t>
            </a:r>
            <a:r>
              <a:rPr sz="2850" spc="-11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80" dirty="0">
                <a:solidFill>
                  <a:srgbClr val="242424"/>
                </a:solidFill>
                <a:latin typeface="Cambria"/>
                <a:cs typeface="Cambria"/>
              </a:rPr>
              <a:t>project</a:t>
            </a:r>
            <a:r>
              <a:rPr sz="2850" spc="-70" dirty="0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sz="2850" spc="-85" dirty="0">
                <a:solidFill>
                  <a:srgbClr val="262626"/>
                </a:solidFill>
                <a:latin typeface="Cambria"/>
                <a:cs typeface="Cambria"/>
              </a:rPr>
              <a:t>addresses</a:t>
            </a:r>
            <a:r>
              <a:rPr sz="2850" spc="-7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2850" spc="-70" dirty="0">
                <a:solidFill>
                  <a:srgbClr val="313131"/>
                </a:solidFill>
                <a:latin typeface="Cambria"/>
                <a:cs typeface="Cambria"/>
              </a:rPr>
              <a:t>the</a:t>
            </a:r>
            <a:r>
              <a:rPr sz="2850" spc="-9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850" spc="-60" dirty="0">
                <a:solidFill>
                  <a:srgbClr val="2F2F2F"/>
                </a:solidFill>
                <a:latin typeface="Cambria"/>
                <a:cs typeface="Cambria"/>
              </a:rPr>
              <a:t>critical</a:t>
            </a:r>
            <a:r>
              <a:rPr sz="2850" spc="-4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80" dirty="0">
                <a:solidFill>
                  <a:srgbClr val="343434"/>
                </a:solidFill>
                <a:latin typeface="Cambria"/>
                <a:cs typeface="Cambria"/>
              </a:rPr>
              <a:t>need </a:t>
            </a:r>
            <a:r>
              <a:rPr sz="2850" dirty="0">
                <a:solidFill>
                  <a:srgbClr val="313131"/>
                </a:solidFill>
                <a:latin typeface="Cambria"/>
                <a:cs typeface="Cambria"/>
              </a:rPr>
              <a:t>for</a:t>
            </a:r>
            <a:r>
              <a:rPr sz="2850" spc="-8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850" spc="-80" dirty="0">
                <a:solidFill>
                  <a:srgbClr val="2D2D2D"/>
                </a:solidFill>
                <a:latin typeface="Cambria"/>
                <a:cs typeface="Cambria"/>
              </a:rPr>
              <a:t>clear </a:t>
            </a:r>
            <a:r>
              <a:rPr sz="2850" spc="-60" dirty="0">
                <a:solidFill>
                  <a:srgbClr val="282828"/>
                </a:solidFill>
                <a:latin typeface="Cambria"/>
                <a:cs typeface="Cambria"/>
              </a:rPr>
              <a:t>insights</a:t>
            </a:r>
            <a:r>
              <a:rPr sz="2850" spc="-5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2F2F2F"/>
                </a:solidFill>
                <a:latin typeface="Cambria"/>
                <a:cs typeface="Cambria"/>
              </a:rPr>
              <a:t>into</a:t>
            </a:r>
            <a:r>
              <a:rPr sz="2850" spc="-13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85" dirty="0">
                <a:solidFill>
                  <a:srgbClr val="343434"/>
                </a:solidFill>
                <a:latin typeface="Cambria"/>
                <a:cs typeface="Cambria"/>
              </a:rPr>
              <a:t>the</a:t>
            </a:r>
            <a:r>
              <a:rPr sz="2850" spc="-7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2A2A2A"/>
                </a:solidFill>
                <a:latin typeface="Cambria"/>
                <a:cs typeface="Cambria"/>
              </a:rPr>
              <a:t>MTA's</a:t>
            </a:r>
            <a:r>
              <a:rPr sz="2850" spc="-8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850" spc="-100" dirty="0">
                <a:solidFill>
                  <a:srgbClr val="242424"/>
                </a:solidFill>
                <a:latin typeface="Cambria"/>
                <a:cs typeface="Cambria"/>
              </a:rPr>
              <a:t>post-</a:t>
            </a:r>
            <a:r>
              <a:rPr sz="2850" spc="-50" dirty="0">
                <a:solidFill>
                  <a:srgbClr val="242424"/>
                </a:solidFill>
                <a:latin typeface="Cambria"/>
                <a:cs typeface="Cambria"/>
              </a:rPr>
              <a:t>pandemic</a:t>
            </a:r>
            <a:r>
              <a:rPr sz="2850" spc="155" dirty="0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2A2A2A"/>
                </a:solidFill>
                <a:latin typeface="Cambria"/>
                <a:cs typeface="Cambria"/>
              </a:rPr>
              <a:t>operational </a:t>
            </a:r>
            <a:r>
              <a:rPr sz="2850" spc="-100" dirty="0">
                <a:solidFill>
                  <a:srgbClr val="313131"/>
                </a:solidFill>
                <a:latin typeface="Cambria"/>
                <a:cs typeface="Cambria"/>
              </a:rPr>
              <a:t>recovery.</a:t>
            </a:r>
            <a:r>
              <a:rPr sz="2850" spc="-6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343434"/>
                </a:solidFill>
                <a:latin typeface="Cambria"/>
                <a:cs typeface="Cambria"/>
              </a:rPr>
              <a:t>By</a:t>
            </a:r>
            <a:r>
              <a:rPr sz="2850" spc="-12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850" spc="-60" dirty="0">
                <a:solidFill>
                  <a:srgbClr val="2B2B2B"/>
                </a:solidFill>
                <a:latin typeface="Cambria"/>
                <a:cs typeface="Cambria"/>
              </a:rPr>
              <a:t>transforming</a:t>
            </a:r>
            <a:r>
              <a:rPr sz="2850" spc="-1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850" spc="-105" dirty="0">
                <a:solidFill>
                  <a:srgbClr val="2F2F2F"/>
                </a:solidFill>
                <a:latin typeface="Cambria"/>
                <a:cs typeface="Cambria"/>
              </a:rPr>
              <a:t>raw,</a:t>
            </a:r>
            <a:r>
              <a:rPr sz="2850" spc="-5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70" dirty="0">
                <a:solidFill>
                  <a:srgbClr val="2F2F2F"/>
                </a:solidFill>
                <a:latin typeface="Cambria"/>
                <a:cs typeface="Cambria"/>
              </a:rPr>
              <a:t>unusable</a:t>
            </a:r>
            <a:r>
              <a:rPr sz="2850" spc="-3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75" dirty="0">
                <a:solidFill>
                  <a:srgbClr val="363636"/>
                </a:solidFill>
                <a:latin typeface="Cambria"/>
                <a:cs typeface="Cambria"/>
              </a:rPr>
              <a:t>ridership</a:t>
            </a:r>
            <a:r>
              <a:rPr sz="2850" spc="4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60" dirty="0">
                <a:solidFill>
                  <a:srgbClr val="343434"/>
                </a:solidFill>
                <a:latin typeface="Cambria"/>
                <a:cs typeface="Cambria"/>
              </a:rPr>
              <a:t>data</a:t>
            </a:r>
            <a:r>
              <a:rPr sz="2850" spc="-10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13131"/>
                </a:solidFill>
                <a:latin typeface="Cambria"/>
                <a:cs typeface="Cambria"/>
              </a:rPr>
              <a:t>into</a:t>
            </a:r>
            <a:r>
              <a:rPr sz="2850" spc="-13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63636"/>
                </a:solidFill>
                <a:latin typeface="Cambria"/>
                <a:cs typeface="Cambria"/>
              </a:rPr>
              <a:t>an</a:t>
            </a:r>
            <a:r>
              <a:rPr sz="2850" spc="-15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60" dirty="0">
                <a:solidFill>
                  <a:srgbClr val="2F2F2F"/>
                </a:solidFill>
                <a:latin typeface="Cambria"/>
                <a:cs typeface="Cambria"/>
              </a:rPr>
              <a:t>interactive</a:t>
            </a:r>
            <a:r>
              <a:rPr sz="2850" spc="1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145" dirty="0">
                <a:solidFill>
                  <a:srgbClr val="2D2D2D"/>
                </a:solidFill>
                <a:latin typeface="Cambria"/>
                <a:cs typeface="Cambria"/>
              </a:rPr>
              <a:t>Power</a:t>
            </a:r>
            <a:r>
              <a:rPr sz="2850" spc="-10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3333"/>
                </a:solidFill>
                <a:latin typeface="Cambria"/>
                <a:cs typeface="Cambria"/>
              </a:rPr>
              <a:t>BI</a:t>
            </a:r>
            <a:r>
              <a:rPr sz="2850" spc="-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2A2A2A"/>
                </a:solidFill>
                <a:latin typeface="Cambria"/>
                <a:cs typeface="Cambria"/>
              </a:rPr>
              <a:t>dashboard,</a:t>
            </a:r>
            <a:r>
              <a:rPr sz="2850" spc="1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2A2A2A"/>
                </a:solidFill>
                <a:latin typeface="Cambria"/>
                <a:cs typeface="Cambria"/>
              </a:rPr>
              <a:t>we </a:t>
            </a:r>
            <a:r>
              <a:rPr sz="2850" spc="-65" dirty="0">
                <a:solidFill>
                  <a:srgbClr val="2D2D2D"/>
                </a:solidFill>
                <a:latin typeface="Cambria"/>
                <a:cs typeface="Cambria"/>
              </a:rPr>
              <a:t>unlocked</a:t>
            </a:r>
            <a:r>
              <a:rPr sz="2850" spc="-9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850" spc="-105" dirty="0">
                <a:solidFill>
                  <a:srgbClr val="363636"/>
                </a:solidFill>
                <a:latin typeface="Cambria"/>
                <a:cs typeface="Cambria"/>
              </a:rPr>
              <a:t>key</a:t>
            </a:r>
            <a:r>
              <a:rPr sz="2850" spc="-4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2F2F2F"/>
                </a:solidFill>
                <a:latin typeface="Cambria"/>
                <a:cs typeface="Cambria"/>
              </a:rPr>
              <a:t>trends</a:t>
            </a:r>
            <a:r>
              <a:rPr sz="2850" spc="-10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95" dirty="0">
                <a:solidFill>
                  <a:srgbClr val="2B2B2B"/>
                </a:solidFill>
                <a:latin typeface="Cambria"/>
                <a:cs typeface="Cambria"/>
              </a:rPr>
              <a:t>across</a:t>
            </a:r>
            <a:r>
              <a:rPr sz="2850" spc="-6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2F2F2F"/>
                </a:solidFill>
                <a:latin typeface="Cambria"/>
                <a:cs typeface="Cambria"/>
              </a:rPr>
              <a:t>all</a:t>
            </a:r>
            <a:r>
              <a:rPr sz="2850" spc="-16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343434"/>
                </a:solidFill>
                <a:latin typeface="Cambria"/>
                <a:cs typeface="Cambria"/>
              </a:rPr>
              <a:t>transit</a:t>
            </a:r>
            <a:r>
              <a:rPr sz="2850" spc="-4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850" spc="-70" dirty="0">
                <a:solidFill>
                  <a:srgbClr val="2D2D2D"/>
                </a:solidFill>
                <a:latin typeface="Cambria"/>
                <a:cs typeface="Cambria"/>
              </a:rPr>
              <a:t>modes.</a:t>
            </a:r>
            <a:r>
              <a:rPr sz="2850" spc="-8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63636"/>
                </a:solidFill>
                <a:latin typeface="Cambria"/>
                <a:cs typeface="Cambria"/>
              </a:rPr>
              <a:t>The</a:t>
            </a:r>
            <a:r>
              <a:rPr sz="2850" spc="-5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95" dirty="0">
                <a:solidFill>
                  <a:srgbClr val="2A2A2A"/>
                </a:solidFill>
                <a:latin typeface="Cambria"/>
                <a:cs typeface="Cambria"/>
              </a:rPr>
              <a:t>result</a:t>
            </a:r>
            <a:r>
              <a:rPr sz="2850" spc="-6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63636"/>
                </a:solidFill>
                <a:latin typeface="Cambria"/>
                <a:cs typeface="Cambria"/>
              </a:rPr>
              <a:t>is</a:t>
            </a:r>
            <a:r>
              <a:rPr sz="2850" spc="-16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63636"/>
                </a:solidFill>
                <a:latin typeface="Cambria"/>
                <a:cs typeface="Cambria"/>
              </a:rPr>
              <a:t>a</a:t>
            </a:r>
            <a:r>
              <a:rPr sz="2850" spc="-15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114" dirty="0">
                <a:solidFill>
                  <a:srgbClr val="2F2F2F"/>
                </a:solidFill>
                <a:latin typeface="Cambria"/>
                <a:cs typeface="Cambria"/>
              </a:rPr>
              <a:t>powerful</a:t>
            </a:r>
            <a:r>
              <a:rPr sz="2850" spc="-4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80" dirty="0">
                <a:solidFill>
                  <a:srgbClr val="212121"/>
                </a:solidFill>
                <a:latin typeface="Cambria"/>
                <a:cs typeface="Cambria"/>
              </a:rPr>
              <a:t>business</a:t>
            </a:r>
            <a:r>
              <a:rPr sz="2850" spc="-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2D2D2D"/>
                </a:solidFill>
                <a:latin typeface="Cambria"/>
                <a:cs typeface="Cambria"/>
              </a:rPr>
              <a:t>intelligence</a:t>
            </a:r>
            <a:r>
              <a:rPr sz="2850" spc="8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850" spc="-65" dirty="0">
                <a:solidFill>
                  <a:srgbClr val="2F2F2F"/>
                </a:solidFill>
                <a:latin typeface="Cambria"/>
                <a:cs typeface="Cambria"/>
              </a:rPr>
              <a:t>tool</a:t>
            </a:r>
            <a:r>
              <a:rPr sz="2850" spc="-8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282828"/>
                </a:solidFill>
                <a:latin typeface="Cambria"/>
                <a:cs typeface="Cambria"/>
              </a:rPr>
              <a:t>that </a:t>
            </a:r>
            <a:r>
              <a:rPr sz="2850" spc="-75" dirty="0">
                <a:solidFill>
                  <a:srgbClr val="262626"/>
                </a:solidFill>
                <a:latin typeface="Cambria"/>
                <a:cs typeface="Cambria"/>
              </a:rPr>
              <a:t>provides</a:t>
            </a:r>
            <a:r>
              <a:rPr sz="2850" spc="-9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2850" spc="-90" dirty="0">
                <a:solidFill>
                  <a:srgbClr val="2F2F2F"/>
                </a:solidFill>
                <a:latin typeface="Cambria"/>
                <a:cs typeface="Cambria"/>
              </a:rPr>
              <a:t>stakeholders</a:t>
            </a:r>
            <a:r>
              <a:rPr sz="2850" spc="-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135" dirty="0">
                <a:solidFill>
                  <a:srgbClr val="2F2F2F"/>
                </a:solidFill>
                <a:latin typeface="Cambria"/>
                <a:cs typeface="Cambria"/>
              </a:rPr>
              <a:t>with</a:t>
            </a:r>
            <a:r>
              <a:rPr sz="2850" spc="-2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63636"/>
                </a:solidFill>
                <a:latin typeface="Cambria"/>
                <a:cs typeface="Cambria"/>
              </a:rPr>
              <a:t>the</a:t>
            </a:r>
            <a:r>
              <a:rPr sz="2850" spc="-14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2B2B2B"/>
                </a:solidFill>
                <a:latin typeface="Cambria"/>
                <a:cs typeface="Cambria"/>
              </a:rPr>
              <a:t>visibility</a:t>
            </a:r>
            <a:r>
              <a:rPr sz="2850" spc="1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850" spc="-85" dirty="0">
                <a:solidFill>
                  <a:srgbClr val="2D2D2D"/>
                </a:solidFill>
                <a:latin typeface="Cambria"/>
                <a:cs typeface="Cambria"/>
              </a:rPr>
              <a:t>needed</a:t>
            </a:r>
            <a:r>
              <a:rPr sz="2850" spc="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333333"/>
                </a:solidFill>
                <a:latin typeface="Cambria"/>
                <a:cs typeface="Cambria"/>
              </a:rPr>
              <a:t>for</a:t>
            </a:r>
            <a:r>
              <a:rPr sz="2850" spc="-1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50" spc="-75" dirty="0">
                <a:solidFill>
                  <a:srgbClr val="2B2B2B"/>
                </a:solidFill>
                <a:latin typeface="Cambria"/>
                <a:cs typeface="Cambria"/>
              </a:rPr>
              <a:t>strategic</a:t>
            </a:r>
            <a:r>
              <a:rPr sz="2850" spc="2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2F2F2F"/>
                </a:solidFill>
                <a:latin typeface="Cambria"/>
                <a:cs typeface="Cambria"/>
              </a:rPr>
              <a:t>planning.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6944" y="6738753"/>
            <a:ext cx="4321175" cy="170497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3650" spc="-70" dirty="0">
                <a:solidFill>
                  <a:srgbClr val="031C3B"/>
                </a:solidFill>
                <a:latin typeface="Arial MT"/>
                <a:cs typeface="Arial MT"/>
              </a:rPr>
              <a:t>The</a:t>
            </a:r>
            <a:r>
              <a:rPr sz="3650" spc="-190" dirty="0">
                <a:solidFill>
                  <a:srgbClr val="031C3B"/>
                </a:solidFill>
                <a:latin typeface="Arial MT"/>
                <a:cs typeface="Arial MT"/>
              </a:rPr>
              <a:t> </a:t>
            </a:r>
            <a:r>
              <a:rPr sz="3650" spc="-10" dirty="0">
                <a:solidFill>
                  <a:srgbClr val="082644"/>
                </a:solidFill>
                <a:latin typeface="Arial MT"/>
                <a:cs typeface="Arial MT"/>
              </a:rPr>
              <a:t>Challenge</a:t>
            </a:r>
            <a:endParaRPr sz="3650">
              <a:latin typeface="Arial MT"/>
              <a:cs typeface="Arial MT"/>
            </a:endParaRPr>
          </a:p>
          <a:p>
            <a:pPr marL="17145" marR="5080" indent="9525">
              <a:lnSpc>
                <a:spcPts val="3050"/>
              </a:lnSpc>
              <a:spcBef>
                <a:spcPts val="1480"/>
              </a:spcBef>
              <a:tabLst>
                <a:tab pos="3585845" algn="l"/>
              </a:tabLst>
            </a:pPr>
            <a:r>
              <a:rPr sz="2900" spc="-60" dirty="0">
                <a:solidFill>
                  <a:srgbClr val="262626"/>
                </a:solidFill>
                <a:latin typeface="Cambria"/>
                <a:cs typeface="Cambria"/>
              </a:rPr>
              <a:t>Lack</a:t>
            </a:r>
            <a:r>
              <a:rPr sz="2900" spc="-9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2D2D2D"/>
                </a:solidFill>
                <a:latin typeface="Cambria"/>
                <a:cs typeface="Cambria"/>
              </a:rPr>
              <a:t>of</a:t>
            </a:r>
            <a:r>
              <a:rPr sz="2900" spc="-15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4350" spc="-15" baseline="2873" dirty="0">
                <a:solidFill>
                  <a:srgbClr val="2D2D2D"/>
                </a:solidFill>
                <a:latin typeface="Cambria"/>
                <a:cs typeface="Cambria"/>
              </a:rPr>
              <a:t>v</a:t>
            </a:r>
            <a:r>
              <a:rPr sz="2900" spc="-10" dirty="0">
                <a:solidFill>
                  <a:srgbClr val="2D2D2D"/>
                </a:solidFill>
                <a:latin typeface="Cambria"/>
                <a:cs typeface="Cambria"/>
              </a:rPr>
              <a:t>isibility</a:t>
            </a:r>
            <a:r>
              <a:rPr sz="2900" spc="-10" dirty="0">
                <a:solidFill>
                  <a:srgbClr val="282828"/>
                </a:solidFill>
                <a:latin typeface="Cambria"/>
                <a:cs typeface="Cambria"/>
              </a:rPr>
              <a:t>from </a:t>
            </a:r>
            <a:r>
              <a:rPr sz="2900" spc="-70" dirty="0">
                <a:solidFill>
                  <a:srgbClr val="282828"/>
                </a:solidFill>
                <a:latin typeface="Cambria"/>
                <a:cs typeface="Cambria"/>
              </a:rPr>
              <a:t>complex,</a:t>
            </a:r>
            <a:r>
              <a:rPr sz="2900" spc="3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900" spc="-40" dirty="0">
                <a:solidFill>
                  <a:srgbClr val="232323"/>
                </a:solidFill>
                <a:latin typeface="Cambria"/>
                <a:cs typeface="Cambria"/>
              </a:rPr>
              <a:t>unnormalized</a:t>
            </a:r>
            <a:r>
              <a:rPr sz="2900" dirty="0">
                <a:solidFill>
                  <a:srgbClr val="232323"/>
                </a:solidFill>
                <a:latin typeface="Cambria"/>
                <a:cs typeface="Cambria"/>
              </a:rPr>
              <a:t>	</a:t>
            </a:r>
            <a:r>
              <a:rPr sz="2900" spc="-75" dirty="0">
                <a:solidFill>
                  <a:srgbClr val="2A2A2A"/>
                </a:solidFill>
                <a:latin typeface="Cambria"/>
                <a:cs typeface="Cambria"/>
              </a:rPr>
              <a:t>data.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29544" y="6738753"/>
            <a:ext cx="4181475" cy="170497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3650" spc="-95" dirty="0">
                <a:solidFill>
                  <a:srgbClr val="0A2344"/>
                </a:solidFill>
                <a:latin typeface="Arial MT"/>
                <a:cs typeface="Arial MT"/>
              </a:rPr>
              <a:t>The</a:t>
            </a:r>
            <a:r>
              <a:rPr sz="3650" spc="-200" dirty="0">
                <a:solidFill>
                  <a:srgbClr val="0A2344"/>
                </a:solidFill>
                <a:latin typeface="Arial MT"/>
                <a:cs typeface="Arial MT"/>
              </a:rPr>
              <a:t> </a:t>
            </a:r>
            <a:r>
              <a:rPr sz="3650" spc="-10" dirty="0">
                <a:solidFill>
                  <a:srgbClr val="0A2644"/>
                </a:solidFill>
                <a:latin typeface="Arial MT"/>
                <a:cs typeface="Arial MT"/>
              </a:rPr>
              <a:t>Solution</a:t>
            </a:r>
            <a:endParaRPr sz="3650">
              <a:latin typeface="Arial MT"/>
              <a:cs typeface="Arial MT"/>
            </a:endParaRPr>
          </a:p>
          <a:p>
            <a:pPr marL="14604" marR="5080" indent="6985">
              <a:lnSpc>
                <a:spcPts val="3050"/>
              </a:lnSpc>
              <a:spcBef>
                <a:spcPts val="1480"/>
              </a:spcBef>
            </a:pPr>
            <a:r>
              <a:rPr sz="2900" spc="-80" dirty="0">
                <a:solidFill>
                  <a:srgbClr val="313131"/>
                </a:solidFill>
                <a:latin typeface="Cambria"/>
                <a:cs typeface="Cambria"/>
              </a:rPr>
              <a:t>An </a:t>
            </a:r>
            <a:r>
              <a:rPr sz="2900" spc="-140" dirty="0">
                <a:solidFill>
                  <a:srgbClr val="212121"/>
                </a:solidFill>
                <a:latin typeface="Cambria"/>
                <a:cs typeface="Cambria"/>
              </a:rPr>
              <a:t>end-</a:t>
            </a:r>
            <a:r>
              <a:rPr sz="2900" spc="-114" dirty="0">
                <a:solidFill>
                  <a:srgbClr val="212121"/>
                </a:solidFill>
                <a:latin typeface="Cambria"/>
                <a:cs typeface="Cambria"/>
              </a:rPr>
              <a:t>to-</a:t>
            </a:r>
            <a:r>
              <a:rPr sz="2900" spc="-55" dirty="0">
                <a:solidFill>
                  <a:srgbClr val="212121"/>
                </a:solidFill>
                <a:latin typeface="Cambria"/>
                <a:cs typeface="Cambria"/>
              </a:rPr>
              <a:t>end</a:t>
            </a:r>
            <a:r>
              <a:rPr sz="2900" spc="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2F2F2F"/>
                </a:solidFill>
                <a:latin typeface="Cambria"/>
                <a:cs typeface="Cambria"/>
              </a:rPr>
              <a:t>BI</a:t>
            </a:r>
            <a:r>
              <a:rPr sz="2900" spc="-11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900" spc="-120" dirty="0">
                <a:solidFill>
                  <a:srgbClr val="262626"/>
                </a:solidFill>
                <a:latin typeface="Cambria"/>
                <a:cs typeface="Cambria"/>
              </a:rPr>
              <a:t>dashboard </a:t>
            </a:r>
            <a:r>
              <a:rPr sz="2900" spc="-50" dirty="0">
                <a:solidFill>
                  <a:srgbClr val="2B2B2B"/>
                </a:solidFill>
                <a:latin typeface="Cambria"/>
                <a:cs typeface="Cambria"/>
              </a:rPr>
              <a:t>built</a:t>
            </a:r>
            <a:r>
              <a:rPr sz="2900" spc="-3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900" spc="-130" dirty="0">
                <a:solidFill>
                  <a:srgbClr val="262626"/>
                </a:solidFill>
                <a:latin typeface="Cambria"/>
                <a:cs typeface="Cambria"/>
              </a:rPr>
              <a:t>with</a:t>
            </a:r>
            <a:r>
              <a:rPr sz="29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2900" spc="-180" dirty="0">
                <a:solidFill>
                  <a:srgbClr val="282828"/>
                </a:solidFill>
                <a:latin typeface="Cambria"/>
                <a:cs typeface="Cambria"/>
              </a:rPr>
              <a:t>Power</a:t>
            </a:r>
            <a:r>
              <a:rPr sz="2900" spc="2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900" spc="-25" dirty="0">
                <a:solidFill>
                  <a:srgbClr val="242424"/>
                </a:solidFill>
                <a:latin typeface="Cambria"/>
                <a:cs typeface="Cambria"/>
              </a:rPr>
              <a:t>BI.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32374" y="6738753"/>
            <a:ext cx="4163060" cy="171132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385"/>
              </a:spcBef>
            </a:pPr>
            <a:r>
              <a:rPr sz="3650" spc="160" dirty="0">
                <a:solidFill>
                  <a:srgbClr val="082649"/>
                </a:solidFill>
                <a:latin typeface="Calibri"/>
                <a:cs typeface="Calibri"/>
              </a:rPr>
              <a:t>The</a:t>
            </a:r>
            <a:r>
              <a:rPr sz="3650" spc="-5" dirty="0">
                <a:solidFill>
                  <a:srgbClr val="082649"/>
                </a:solidFill>
                <a:latin typeface="Calibri"/>
                <a:cs typeface="Calibri"/>
              </a:rPr>
              <a:t> </a:t>
            </a:r>
            <a:r>
              <a:rPr sz="3650" spc="155" dirty="0">
                <a:solidFill>
                  <a:srgbClr val="032448"/>
                </a:solidFill>
                <a:latin typeface="Calibri"/>
                <a:cs typeface="Calibri"/>
              </a:rPr>
              <a:t>Impact</a:t>
            </a:r>
            <a:endParaRPr sz="3650">
              <a:latin typeface="Calibri"/>
              <a:cs typeface="Calibri"/>
            </a:endParaRPr>
          </a:p>
          <a:p>
            <a:pPr marL="19050" marR="5080" indent="-6985">
              <a:lnSpc>
                <a:spcPts val="3100"/>
              </a:lnSpc>
              <a:spcBef>
                <a:spcPts val="1440"/>
              </a:spcBef>
            </a:pPr>
            <a:r>
              <a:rPr sz="2900" spc="-70" dirty="0">
                <a:solidFill>
                  <a:srgbClr val="282828"/>
                </a:solidFill>
                <a:latin typeface="Cambria"/>
                <a:cs typeface="Cambria"/>
              </a:rPr>
              <a:t>Clear,</a:t>
            </a:r>
            <a:r>
              <a:rPr sz="2900" spc="-6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900" spc="-85" dirty="0">
                <a:solidFill>
                  <a:srgbClr val="262626"/>
                </a:solidFill>
                <a:latin typeface="Cambria"/>
                <a:cs typeface="Cambria"/>
              </a:rPr>
              <a:t>actionable</a:t>
            </a:r>
            <a:r>
              <a:rPr sz="2900" spc="-4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2900" spc="-75" dirty="0">
                <a:solidFill>
                  <a:srgbClr val="2D2D2D"/>
                </a:solidFill>
                <a:latin typeface="Cambria"/>
                <a:cs typeface="Cambria"/>
              </a:rPr>
              <a:t>insights</a:t>
            </a:r>
            <a:r>
              <a:rPr sz="2900" spc="-80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900" spc="-45" dirty="0">
                <a:solidFill>
                  <a:srgbClr val="2A2A2A"/>
                </a:solidFill>
                <a:latin typeface="Cambria"/>
                <a:cs typeface="Cambria"/>
              </a:rPr>
              <a:t>on </a:t>
            </a:r>
            <a:r>
              <a:rPr sz="2900" spc="-150" dirty="0">
                <a:solidFill>
                  <a:srgbClr val="282828"/>
                </a:solidFill>
                <a:latin typeface="Cambria"/>
                <a:cs typeface="Cambria"/>
              </a:rPr>
              <a:t>recovery</a:t>
            </a:r>
            <a:r>
              <a:rPr sz="2900" spc="2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232323"/>
                </a:solidFill>
                <a:latin typeface="Cambria"/>
                <a:cs typeface="Cambria"/>
              </a:rPr>
              <a:t>patterns.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42412" y="9413522"/>
            <a:ext cx="13462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361950"/>
            <a:ext cx="16687800" cy="9029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603" y="883708"/>
            <a:ext cx="14365605" cy="27430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7120"/>
              </a:lnSpc>
            </a:pPr>
            <a:r>
              <a:rPr lang="en-US" sz="6000" b="1" dirty="0"/>
              <a:t>The Challenge</a:t>
            </a:r>
            <a:br>
              <a:rPr lang="ar-EG" sz="6000" b="1" dirty="0"/>
            </a:br>
            <a:r>
              <a:rPr lang="en-US" sz="4800" dirty="0">
                <a:highlight>
                  <a:srgbClr val="808080"/>
                </a:highlight>
              </a:rPr>
              <a:t>Post-Pandemic</a:t>
            </a:r>
            <a:r>
              <a:rPr lang="en-US" sz="4800" b="1" dirty="0">
                <a:highlight>
                  <a:srgbClr val="808080"/>
                </a:highlight>
              </a:rPr>
              <a:t> </a:t>
            </a:r>
            <a:r>
              <a:rPr lang="en-US" sz="4800" dirty="0">
                <a:highlight>
                  <a:srgbClr val="808080"/>
                </a:highlight>
              </a:rPr>
              <a:t>Uncertainty</a:t>
            </a:r>
            <a:br>
              <a:rPr lang="en-US" sz="6000" dirty="0"/>
            </a:br>
            <a:endParaRPr sz="60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974151" y="3001593"/>
            <a:ext cx="6801484" cy="4387215"/>
          </a:xfrm>
          <a:prstGeom prst="rect">
            <a:avLst/>
          </a:prstGeom>
        </p:spPr>
        <p:txBody>
          <a:bodyPr vert="horz" wrap="square" lIns="0" tIns="357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15"/>
              </a:spcBef>
            </a:pPr>
            <a:r>
              <a:rPr sz="4000" spc="75" dirty="0">
                <a:solidFill>
                  <a:srgbClr val="081F3B"/>
                </a:solidFill>
                <a:latin typeface="Calibri"/>
                <a:cs typeface="Calibri"/>
              </a:rPr>
              <a:t>The</a:t>
            </a:r>
            <a:r>
              <a:rPr sz="4000" spc="-35" dirty="0">
                <a:solidFill>
                  <a:srgbClr val="081F3B"/>
                </a:solidFill>
                <a:latin typeface="Calibri"/>
                <a:cs typeface="Calibri"/>
              </a:rPr>
              <a:t> </a:t>
            </a:r>
            <a:r>
              <a:rPr sz="4000" spc="100" dirty="0">
                <a:solidFill>
                  <a:srgbClr val="08213F"/>
                </a:solidFill>
                <a:latin typeface="Calibri"/>
                <a:cs typeface="Calibri"/>
              </a:rPr>
              <a:t>Business</a:t>
            </a:r>
            <a:r>
              <a:rPr sz="4000" spc="80" dirty="0">
                <a:solidFill>
                  <a:srgbClr val="08213F"/>
                </a:solidFill>
                <a:latin typeface="Calibri"/>
                <a:cs typeface="Calibri"/>
              </a:rPr>
              <a:t> </a:t>
            </a:r>
            <a:r>
              <a:rPr sz="4000" spc="165" dirty="0">
                <a:solidFill>
                  <a:srgbClr val="082444"/>
                </a:solidFill>
                <a:latin typeface="Calibri"/>
                <a:cs typeface="Calibri"/>
              </a:rPr>
              <a:t>Need</a:t>
            </a:r>
            <a:endParaRPr sz="4000">
              <a:latin typeface="Calibri"/>
              <a:cs typeface="Calibri"/>
            </a:endParaRPr>
          </a:p>
          <a:p>
            <a:pPr marL="526415" marR="565785" indent="-323215">
              <a:lnSpc>
                <a:spcPts val="3650"/>
              </a:lnSpc>
              <a:spcBef>
                <a:spcPts val="2180"/>
              </a:spcBef>
              <a:buChar char="•"/>
              <a:tabLst>
                <a:tab pos="527685" algn="l"/>
                <a:tab pos="4072890" algn="l"/>
              </a:tabLst>
            </a:pPr>
            <a:r>
              <a:rPr sz="3050" spc="-105" dirty="0">
                <a:latin typeface="Cambria"/>
                <a:cs typeface="Cambria"/>
              </a:rPr>
              <a:t>Following</a:t>
            </a:r>
            <a:r>
              <a:rPr sz="3050" spc="-40" dirty="0">
                <a:latin typeface="Cambria"/>
                <a:cs typeface="Cambria"/>
              </a:rPr>
              <a:t> </a:t>
            </a:r>
            <a:r>
              <a:rPr sz="3050" spc="-114" dirty="0">
                <a:latin typeface="Cambria"/>
                <a:cs typeface="Cambria"/>
              </a:rPr>
              <a:t>the</a:t>
            </a:r>
            <a:r>
              <a:rPr sz="3050" spc="-55" dirty="0">
                <a:latin typeface="Cambria"/>
                <a:cs typeface="Cambria"/>
              </a:rPr>
              <a:t> </a:t>
            </a:r>
            <a:r>
              <a:rPr sz="3050" spc="-70" dirty="0">
                <a:latin typeface="Cambria"/>
                <a:cs typeface="Cambria"/>
              </a:rPr>
              <a:t>pandemic,</a:t>
            </a:r>
            <a:r>
              <a:rPr sz="3050" spc="-55" dirty="0">
                <a:latin typeface="Cambria"/>
                <a:cs typeface="Cambria"/>
              </a:rPr>
              <a:t> </a:t>
            </a:r>
            <a:r>
              <a:rPr sz="3050" spc="-25" dirty="0">
                <a:latin typeface="Cambria"/>
                <a:cs typeface="Cambria"/>
              </a:rPr>
              <a:t>MTA 	</a:t>
            </a:r>
            <a:r>
              <a:rPr sz="3050" spc="-114" dirty="0">
                <a:latin typeface="Cambria"/>
                <a:cs typeface="Cambria"/>
              </a:rPr>
              <a:t>stakeholders</a:t>
            </a:r>
            <a:r>
              <a:rPr sz="3050" spc="-35" dirty="0">
                <a:latin typeface="Cambria"/>
                <a:cs typeface="Cambria"/>
              </a:rPr>
              <a:t> </a:t>
            </a:r>
            <a:r>
              <a:rPr sz="3050" spc="-105" dirty="0">
                <a:latin typeface="Cambria"/>
                <a:cs typeface="Cambria"/>
              </a:rPr>
              <a:t>required</a:t>
            </a:r>
            <a:r>
              <a:rPr sz="3050" spc="5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a</a:t>
            </a:r>
            <a:r>
              <a:rPr sz="3050" spc="-170" dirty="0">
                <a:latin typeface="Cambria"/>
                <a:cs typeface="Cambria"/>
              </a:rPr>
              <a:t> </a:t>
            </a:r>
            <a:r>
              <a:rPr sz="3050" spc="-65" dirty="0">
                <a:latin typeface="Cambria"/>
                <a:cs typeface="Cambria"/>
              </a:rPr>
              <a:t>clear,</a:t>
            </a:r>
            <a:r>
              <a:rPr sz="3050" spc="-70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data- 	</a:t>
            </a:r>
            <a:r>
              <a:rPr sz="3050" spc="-114" dirty="0">
                <a:latin typeface="Cambria"/>
                <a:cs typeface="Cambria"/>
              </a:rPr>
              <a:t>backed</a:t>
            </a:r>
            <a:r>
              <a:rPr sz="3050" spc="-35" dirty="0">
                <a:latin typeface="Cambria"/>
                <a:cs typeface="Cambria"/>
              </a:rPr>
              <a:t> </a:t>
            </a:r>
            <a:r>
              <a:rPr sz="3050" spc="-45" dirty="0">
                <a:latin typeface="Cambria"/>
                <a:cs typeface="Cambria"/>
              </a:rPr>
              <a:t>understanding</a:t>
            </a:r>
            <a:r>
              <a:rPr sz="3050" dirty="0">
                <a:latin typeface="Cambria"/>
                <a:cs typeface="Cambria"/>
              </a:rPr>
              <a:t>	</a:t>
            </a:r>
            <a:r>
              <a:rPr sz="3050" spc="-85" dirty="0">
                <a:latin typeface="Cambria"/>
                <a:cs typeface="Cambria"/>
              </a:rPr>
              <a:t>of</a:t>
            </a:r>
            <a:r>
              <a:rPr sz="3050" spc="-120" dirty="0">
                <a:latin typeface="Cambria"/>
                <a:cs typeface="Cambria"/>
              </a:rPr>
              <a:t> </a:t>
            </a:r>
            <a:r>
              <a:rPr sz="3050" spc="-160" dirty="0">
                <a:latin typeface="Cambria"/>
                <a:cs typeface="Cambria"/>
              </a:rPr>
              <a:t>how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public 	</a:t>
            </a:r>
            <a:r>
              <a:rPr sz="3050" spc="-105" dirty="0">
                <a:latin typeface="Cambria"/>
                <a:cs typeface="Cambria"/>
              </a:rPr>
              <a:t>transportation</a:t>
            </a:r>
            <a:r>
              <a:rPr sz="3050" spc="-5" dirty="0">
                <a:latin typeface="Cambria"/>
                <a:cs typeface="Cambria"/>
              </a:rPr>
              <a:t> </a:t>
            </a:r>
            <a:r>
              <a:rPr sz="3050" spc="-114" dirty="0">
                <a:latin typeface="Cambria"/>
                <a:cs typeface="Cambria"/>
              </a:rPr>
              <a:t>usage</a:t>
            </a:r>
            <a:r>
              <a:rPr sz="3050" spc="20" dirty="0">
                <a:latin typeface="Cambria"/>
                <a:cs typeface="Cambria"/>
              </a:rPr>
              <a:t> </a:t>
            </a:r>
            <a:r>
              <a:rPr sz="3050" spc="-180" dirty="0">
                <a:latin typeface="Cambria"/>
                <a:cs typeface="Cambria"/>
              </a:rPr>
              <a:t>was</a:t>
            </a:r>
            <a:r>
              <a:rPr sz="3050" spc="5" dirty="0">
                <a:latin typeface="Cambria"/>
                <a:cs typeface="Cambria"/>
              </a:rPr>
              <a:t> </a:t>
            </a:r>
            <a:r>
              <a:rPr sz="3050" spc="-105" dirty="0">
                <a:latin typeface="Cambria"/>
                <a:cs typeface="Cambria"/>
              </a:rPr>
              <a:t>recovering.</a:t>
            </a:r>
            <a:endParaRPr sz="3050">
              <a:latin typeface="Cambria"/>
              <a:cs typeface="Cambria"/>
            </a:endParaRPr>
          </a:p>
          <a:p>
            <a:pPr marL="522605" marR="5080" indent="-320040">
              <a:lnSpc>
                <a:spcPts val="3600"/>
              </a:lnSpc>
              <a:spcBef>
                <a:spcPts val="2940"/>
              </a:spcBef>
              <a:buChar char="•"/>
              <a:tabLst>
                <a:tab pos="522605" algn="l"/>
                <a:tab pos="523875" algn="l"/>
              </a:tabLst>
            </a:pPr>
            <a:r>
              <a:rPr sz="3100" dirty="0">
                <a:latin typeface="Cambria"/>
                <a:cs typeface="Cambria"/>
              </a:rPr>
              <a:t>	</a:t>
            </a:r>
            <a:r>
              <a:rPr sz="3100" spc="-120" dirty="0">
                <a:latin typeface="Cambria"/>
                <a:cs typeface="Cambria"/>
              </a:rPr>
              <a:t>This</a:t>
            </a:r>
            <a:r>
              <a:rPr sz="3100" spc="-55" dirty="0">
                <a:latin typeface="Cambria"/>
                <a:cs typeface="Cambria"/>
              </a:rPr>
              <a:t> </a:t>
            </a:r>
            <a:r>
              <a:rPr sz="3100" spc="-120" dirty="0">
                <a:latin typeface="Cambria"/>
                <a:cs typeface="Cambria"/>
              </a:rPr>
              <a:t>visibility</a:t>
            </a:r>
            <a:r>
              <a:rPr sz="3100" spc="15" dirty="0">
                <a:latin typeface="Cambria"/>
                <a:cs typeface="Cambria"/>
              </a:rPr>
              <a:t> </a:t>
            </a:r>
            <a:r>
              <a:rPr sz="3100" spc="-220" dirty="0">
                <a:latin typeface="Cambria"/>
                <a:cs typeface="Cambria"/>
              </a:rPr>
              <a:t>was</a:t>
            </a:r>
            <a:r>
              <a:rPr sz="3100" spc="-50" dirty="0">
                <a:latin typeface="Cambria"/>
                <a:cs typeface="Cambria"/>
              </a:rPr>
              <a:t> </a:t>
            </a:r>
            <a:r>
              <a:rPr sz="3100" spc="-105" dirty="0">
                <a:latin typeface="Cambria"/>
                <a:cs typeface="Cambria"/>
              </a:rPr>
              <a:t>crucial</a:t>
            </a:r>
            <a:r>
              <a:rPr sz="3100" spc="25" dirty="0">
                <a:latin typeface="Cambria"/>
                <a:cs typeface="Cambria"/>
              </a:rPr>
              <a:t> </a:t>
            </a:r>
            <a:r>
              <a:rPr sz="3100" spc="-114" dirty="0">
                <a:latin typeface="Cambria"/>
                <a:cs typeface="Cambria"/>
              </a:rPr>
              <a:t>for</a:t>
            </a:r>
            <a:r>
              <a:rPr sz="3100" spc="-105" dirty="0">
                <a:latin typeface="Cambria"/>
                <a:cs typeface="Cambria"/>
              </a:rPr>
              <a:t> </a:t>
            </a:r>
            <a:r>
              <a:rPr sz="3100" spc="-114" dirty="0">
                <a:latin typeface="Cambria"/>
                <a:cs typeface="Cambria"/>
              </a:rPr>
              <a:t>operational </a:t>
            </a:r>
            <a:r>
              <a:rPr sz="3100" spc="-105" dirty="0">
                <a:latin typeface="Cambria"/>
                <a:cs typeface="Cambria"/>
              </a:rPr>
              <a:t>planning</a:t>
            </a:r>
            <a:r>
              <a:rPr sz="3100" spc="75" dirty="0">
                <a:latin typeface="Cambria"/>
                <a:cs typeface="Cambria"/>
              </a:rPr>
              <a:t> </a:t>
            </a:r>
            <a:r>
              <a:rPr sz="3100" spc="-125" dirty="0">
                <a:latin typeface="Cambria"/>
                <a:cs typeface="Cambria"/>
              </a:rPr>
              <a:t>and</a:t>
            </a:r>
            <a:r>
              <a:rPr sz="3100" spc="-45" dirty="0">
                <a:latin typeface="Cambria"/>
                <a:cs typeface="Cambria"/>
              </a:rPr>
              <a:t> </a:t>
            </a:r>
            <a:r>
              <a:rPr sz="3100" spc="-135" dirty="0">
                <a:latin typeface="Cambria"/>
                <a:cs typeface="Cambria"/>
              </a:rPr>
              <a:t>strategic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-105" dirty="0">
                <a:latin typeface="Cambria"/>
                <a:cs typeface="Cambria"/>
              </a:rPr>
              <a:t>decision-</a:t>
            </a:r>
            <a:r>
              <a:rPr sz="3100" spc="-10" dirty="0">
                <a:latin typeface="Cambria"/>
                <a:cs typeface="Cambria"/>
              </a:rPr>
              <a:t>making.</a:t>
            </a:r>
            <a:endParaRPr sz="3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3302000"/>
            <a:ext cx="2705100" cy="270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100" y="3302000"/>
            <a:ext cx="2705100" cy="2705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0700" y="3302000"/>
            <a:ext cx="2705100" cy="2705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49300" y="3302000"/>
            <a:ext cx="2705100" cy="27051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1275" y="680155"/>
            <a:ext cx="12656820" cy="2384627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6510" marR="5080" indent="-4445">
              <a:lnSpc>
                <a:spcPts val="5750"/>
              </a:lnSpc>
              <a:spcBef>
                <a:spcPts val="1195"/>
              </a:spcBef>
            </a:pPr>
            <a:r>
              <a:rPr lang="en-US" sz="6000" b="1" dirty="0"/>
              <a:t>Our Approach</a:t>
            </a:r>
            <a:br>
              <a:rPr lang="ar-EG" sz="6000" dirty="0"/>
            </a:br>
            <a:r>
              <a:rPr lang="en-US" sz="4800" dirty="0">
                <a:highlight>
                  <a:srgbClr val="808080"/>
                </a:highlight>
              </a:rPr>
              <a:t>From Raw Data to Clear Insights</a:t>
            </a:r>
            <a:br>
              <a:rPr lang="en-US" sz="6000" dirty="0"/>
            </a:br>
            <a:endParaRPr sz="5700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54987" y="6311487"/>
          <a:ext cx="15212694" cy="178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6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61594">
                        <a:lnSpc>
                          <a:spcPts val="3295"/>
                        </a:lnSpc>
                      </a:pPr>
                      <a:r>
                        <a:rPr sz="2950" dirty="0">
                          <a:solidFill>
                            <a:srgbClr val="081C2F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2950" spc="170" dirty="0">
                          <a:solidFill>
                            <a:srgbClr val="081C2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11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Ingestion: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3295"/>
                        </a:lnSpc>
                      </a:pPr>
                      <a:r>
                        <a:rPr sz="2950" spc="-175" dirty="0">
                          <a:solidFill>
                            <a:srgbClr val="0A1F31"/>
                          </a:solidFill>
                          <a:latin typeface="Arial MT"/>
                          <a:cs typeface="Arial MT"/>
                        </a:rPr>
                        <a:t>ETL</a:t>
                      </a:r>
                      <a:r>
                        <a:rPr sz="2950" spc="-160" dirty="0">
                          <a:solidFill>
                            <a:srgbClr val="0A1F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95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Transformation: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ts val="3295"/>
                        </a:lnSpc>
                      </a:pPr>
                      <a:r>
                        <a:rPr sz="2950" dirty="0">
                          <a:solidFill>
                            <a:srgbClr val="05182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2950" spc="225" dirty="0">
                          <a:solidFill>
                            <a:srgbClr val="051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155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Modeling: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7680" algn="ctr">
                        <a:lnSpc>
                          <a:spcPts val="3295"/>
                        </a:lnSpc>
                      </a:pPr>
                      <a:r>
                        <a:rPr sz="2950" spc="105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Visualization: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L="31750">
                        <a:lnSpc>
                          <a:spcPts val="3265"/>
                        </a:lnSpc>
                        <a:spcBef>
                          <a:spcPts val="409"/>
                        </a:spcBef>
                      </a:pPr>
                      <a:r>
                        <a:rPr sz="2850" spc="-75" dirty="0">
                          <a:latin typeface="Cambria"/>
                          <a:cs typeface="Cambria"/>
                        </a:rPr>
                        <a:t>Raw</a:t>
                      </a:r>
                      <a:r>
                        <a:rPr sz="285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80" dirty="0">
                          <a:latin typeface="Cambria"/>
                          <a:cs typeface="Cambria"/>
                        </a:rPr>
                        <a:t>ridership </a:t>
                      </a:r>
                      <a:r>
                        <a:rPr sz="2850" spc="-20" dirty="0">
                          <a:latin typeface="Cambria"/>
                          <a:cs typeface="Cambria"/>
                        </a:rPr>
                        <a:t>data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3265"/>
                        </a:lnSpc>
                        <a:spcBef>
                          <a:spcPts val="409"/>
                        </a:spcBef>
                      </a:pPr>
                      <a:r>
                        <a:rPr sz="2850" dirty="0">
                          <a:latin typeface="Cambria"/>
                          <a:cs typeface="Cambria"/>
                        </a:rPr>
                        <a:t>Clean,</a:t>
                      </a:r>
                      <a:r>
                        <a:rPr sz="2850" spc="-55" dirty="0">
                          <a:latin typeface="Cambria"/>
                          <a:cs typeface="Cambria"/>
                        </a:rPr>
                        <a:t> pivot,</a:t>
                      </a:r>
                      <a:r>
                        <a:rPr sz="285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5" dirty="0">
                          <a:latin typeface="Cambria"/>
                          <a:cs typeface="Cambria"/>
                        </a:rPr>
                        <a:t>and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3265"/>
                        </a:lnSpc>
                        <a:spcBef>
                          <a:spcPts val="409"/>
                        </a:spcBef>
                      </a:pPr>
                      <a:r>
                        <a:rPr sz="2850" spc="-25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2850" spc="-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85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10" dirty="0">
                          <a:latin typeface="Cambria"/>
                          <a:cs typeface="Cambria"/>
                        </a:rPr>
                        <a:t>robust</a:t>
                      </a:r>
                      <a:r>
                        <a:rPr sz="285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0" dirty="0">
                          <a:latin typeface="Cambria"/>
                          <a:cs typeface="Cambria"/>
                        </a:rPr>
                        <a:t>Star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456565" algn="ctr">
                        <a:lnSpc>
                          <a:spcPts val="3265"/>
                        </a:lnSpc>
                        <a:spcBef>
                          <a:spcPts val="409"/>
                        </a:spcBef>
                      </a:pPr>
                      <a:r>
                        <a:rPr sz="2850" spc="-50" dirty="0">
                          <a:latin typeface="Cambria"/>
                          <a:cs typeface="Cambria"/>
                        </a:rPr>
                        <a:t>Design</a:t>
                      </a:r>
                      <a:r>
                        <a:rPr sz="285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dirty="0">
                          <a:solidFill>
                            <a:srgbClr val="080808"/>
                          </a:solidFill>
                          <a:latin typeface="Cambria"/>
                          <a:cs typeface="Cambria"/>
                        </a:rPr>
                        <a:t>an</a:t>
                      </a:r>
                      <a:r>
                        <a:rPr sz="2850" spc="-150" dirty="0">
                          <a:solidFill>
                            <a:srgbClr val="080808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0" dirty="0">
                          <a:latin typeface="Cambria"/>
                          <a:cs typeface="Cambria"/>
                        </a:rPr>
                        <a:t>intuitive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520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355">
                <a:tc>
                  <a:txBody>
                    <a:bodyPr/>
                    <a:lstStyle/>
                    <a:p>
                      <a:pPr marL="584835">
                        <a:lnSpc>
                          <a:spcPts val="3155"/>
                        </a:lnSpc>
                      </a:pPr>
                      <a:r>
                        <a:rPr sz="2850" spc="-80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285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0" dirty="0">
                          <a:latin typeface="Cambria"/>
                          <a:cs typeface="Cambria"/>
                        </a:rPr>
                        <a:t>Excel.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5190" marR="897255" indent="80645">
                        <a:lnSpc>
                          <a:spcPts val="3150"/>
                        </a:lnSpc>
                      </a:pPr>
                      <a:r>
                        <a:rPr sz="2850" spc="-85" dirty="0">
                          <a:latin typeface="Cambria"/>
                          <a:cs typeface="Cambria"/>
                        </a:rPr>
                        <a:t>shape</a:t>
                      </a:r>
                      <a:r>
                        <a:rPr sz="285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5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2850" spc="-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0" dirty="0">
                          <a:latin typeface="Cambria"/>
                          <a:cs typeface="Cambria"/>
                        </a:rPr>
                        <a:t>using </a:t>
                      </a:r>
                      <a:r>
                        <a:rPr sz="2850" spc="-145" dirty="0">
                          <a:latin typeface="Cambria"/>
                          <a:cs typeface="Cambria"/>
                        </a:rPr>
                        <a:t>Power</a:t>
                      </a:r>
                      <a:r>
                        <a:rPr sz="285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00" dirty="0">
                          <a:latin typeface="Cambria"/>
                          <a:cs typeface="Cambria"/>
                        </a:rPr>
                        <a:t>Query</a:t>
                      </a:r>
                      <a:r>
                        <a:rPr sz="285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0" dirty="0">
                          <a:latin typeface="Cambria"/>
                          <a:cs typeface="Cambria"/>
                        </a:rPr>
                        <a:t>(M).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91260" marR="496570" indent="-767715">
                        <a:lnSpc>
                          <a:spcPts val="3150"/>
                        </a:lnSpc>
                      </a:pPr>
                      <a:r>
                        <a:rPr sz="2850" spc="-75" dirty="0">
                          <a:latin typeface="Cambria"/>
                          <a:cs typeface="Cambria"/>
                        </a:rPr>
                        <a:t>Schema</a:t>
                      </a:r>
                      <a:r>
                        <a:rPr sz="28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65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85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55" dirty="0">
                          <a:latin typeface="Cambria"/>
                          <a:cs typeface="Cambria"/>
                        </a:rPr>
                        <a:t>flexible </a:t>
                      </a:r>
                      <a:r>
                        <a:rPr sz="2850" spc="-10" dirty="0">
                          <a:latin typeface="Cambria"/>
                          <a:cs typeface="Cambria"/>
                        </a:rPr>
                        <a:t>analysis.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4190" marR="24130" indent="97155">
                        <a:lnSpc>
                          <a:spcPts val="3150"/>
                        </a:lnSpc>
                      </a:pPr>
                      <a:r>
                        <a:rPr sz="2850" spc="-80" dirty="0">
                          <a:latin typeface="Cambria"/>
                          <a:cs typeface="Cambria"/>
                        </a:rPr>
                        <a:t>dashboard</a:t>
                      </a:r>
                      <a:r>
                        <a:rPr sz="285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00" dirty="0">
                          <a:latin typeface="Cambria"/>
                          <a:cs typeface="Cambria"/>
                        </a:rPr>
                        <a:t>with</a:t>
                      </a:r>
                      <a:r>
                        <a:rPr sz="285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5" dirty="0">
                          <a:latin typeface="Cambria"/>
                          <a:cs typeface="Cambria"/>
                        </a:rPr>
                        <a:t>DAX </a:t>
                      </a:r>
                      <a:r>
                        <a:rPr sz="2850" spc="-110" dirty="0">
                          <a:latin typeface="Cambria"/>
                          <a:cs typeface="Cambria"/>
                        </a:rPr>
                        <a:t>measures</a:t>
                      </a:r>
                      <a:r>
                        <a:rPr sz="285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850" spc="-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145" dirty="0">
                          <a:latin typeface="Cambria"/>
                          <a:cs typeface="Cambria"/>
                        </a:rPr>
                        <a:t>Power</a:t>
                      </a:r>
                      <a:r>
                        <a:rPr sz="285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50" spc="-25" dirty="0">
                          <a:latin typeface="Cambria"/>
                          <a:cs typeface="Cambria"/>
                        </a:rPr>
                        <a:t>BI.</a:t>
                      </a:r>
                      <a:endParaRPr sz="28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5663950" y="9422341"/>
            <a:ext cx="143510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0" y="6972300"/>
            <a:ext cx="2933700" cy="187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8300" y="7670800"/>
            <a:ext cx="12700" cy="30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38300" y="8026400"/>
            <a:ext cx="12700" cy="393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300" y="8483600"/>
            <a:ext cx="12700" cy="342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93200" y="4419600"/>
            <a:ext cx="12700" cy="254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25814" y="516466"/>
            <a:ext cx="12158980" cy="13849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6350">
              <a:lnSpc>
                <a:spcPts val="5100"/>
              </a:lnSpc>
              <a:spcBef>
                <a:spcPts val="600"/>
              </a:spcBef>
              <a:tabLst>
                <a:tab pos="8076565" algn="l"/>
              </a:tabLst>
            </a:pPr>
            <a:r>
              <a:rPr lang="en-US" sz="6000" b="1" dirty="0"/>
              <a:t>Understanding the Data</a:t>
            </a:r>
            <a:br>
              <a:rPr lang="ar-EG" sz="4800" dirty="0"/>
            </a:br>
            <a:r>
              <a:rPr lang="en-US" sz="4800" dirty="0">
                <a:highlight>
                  <a:srgbClr val="808080"/>
                </a:highlight>
              </a:rPr>
              <a:t>Making Sense of the Numbers</a:t>
            </a:r>
            <a:endParaRPr sz="4550" dirty="0">
              <a:highlight>
                <a:srgbClr val="808080"/>
              </a:highlight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7780" marR="4804410" indent="-5715">
              <a:lnSpc>
                <a:spcPct val="89200"/>
              </a:lnSpc>
              <a:spcBef>
                <a:spcPts val="509"/>
              </a:spcBef>
            </a:pPr>
            <a:r>
              <a:rPr dirty="0"/>
              <a:t>The</a:t>
            </a:r>
            <a:r>
              <a:rPr spc="60" dirty="0"/>
              <a:t> </a:t>
            </a:r>
            <a:r>
              <a:rPr dirty="0"/>
              <a:t>primary</a:t>
            </a:r>
            <a:r>
              <a:rPr spc="-90" dirty="0"/>
              <a:t> </a:t>
            </a:r>
            <a:r>
              <a:rPr spc="-40" dirty="0"/>
              <a:t>goal</a:t>
            </a:r>
            <a:r>
              <a:rPr spc="-120" dirty="0"/>
              <a:t> </a:t>
            </a:r>
            <a:r>
              <a:rPr spc="-20" dirty="0"/>
              <a:t>was</a:t>
            </a:r>
            <a:r>
              <a:rPr spc="-100" dirty="0"/>
              <a:t> </a:t>
            </a:r>
            <a:r>
              <a:rPr dirty="0"/>
              <a:t>to</a:t>
            </a:r>
            <a:r>
              <a:rPr spc="-155" dirty="0"/>
              <a:t> </a:t>
            </a:r>
            <a:r>
              <a:rPr dirty="0"/>
              <a:t>convert</a:t>
            </a:r>
            <a:r>
              <a:rPr spc="3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-20" dirty="0"/>
              <a:t>wide </a:t>
            </a:r>
            <a:r>
              <a:rPr dirty="0"/>
              <a:t>data</a:t>
            </a:r>
            <a:r>
              <a:rPr spc="-110" dirty="0"/>
              <a:t> </a:t>
            </a:r>
            <a:r>
              <a:rPr dirty="0"/>
              <a:t>format</a:t>
            </a:r>
            <a:r>
              <a:rPr spc="40" dirty="0"/>
              <a:t> </a:t>
            </a:r>
            <a:r>
              <a:rPr dirty="0"/>
              <a:t>into</a:t>
            </a:r>
            <a:r>
              <a:rPr spc="-110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dirty="0"/>
              <a:t>long,</a:t>
            </a:r>
            <a:r>
              <a:rPr spc="40" dirty="0"/>
              <a:t> </a:t>
            </a:r>
            <a:r>
              <a:rPr dirty="0"/>
              <a:t>normalized</a:t>
            </a:r>
            <a:r>
              <a:rPr spc="10" dirty="0"/>
              <a:t> </a:t>
            </a:r>
            <a:r>
              <a:rPr spc="-10" dirty="0"/>
              <a:t>structure </a:t>
            </a:r>
            <a:r>
              <a:rPr dirty="0"/>
              <a:t>suitable</a:t>
            </a:r>
            <a:r>
              <a:rPr spc="20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relational</a:t>
            </a:r>
            <a:r>
              <a:rPr spc="60" dirty="0"/>
              <a:t> </a:t>
            </a:r>
            <a:r>
              <a:rPr spc="-10" dirty="0"/>
              <a:t>model.</a:t>
            </a:r>
          </a:p>
          <a:p>
            <a:pPr marR="5080" algn="r">
              <a:lnSpc>
                <a:spcPts val="2505"/>
              </a:lnSpc>
              <a:spcBef>
                <a:spcPts val="960"/>
              </a:spcBef>
            </a:pPr>
            <a:r>
              <a:rPr sz="2300" spc="140" dirty="0">
                <a:solidFill>
                  <a:srgbClr val="070707"/>
                </a:solidFill>
              </a:rPr>
              <a:t>Wide/Unnormalized</a:t>
            </a:r>
            <a:r>
              <a:rPr sz="2300" spc="345" dirty="0">
                <a:solidFill>
                  <a:srgbClr val="070707"/>
                </a:solidFill>
              </a:rPr>
              <a:t> </a:t>
            </a:r>
            <a:r>
              <a:rPr sz="2300" spc="50" dirty="0">
                <a:solidFill>
                  <a:srgbClr val="0C1D31"/>
                </a:solidFill>
              </a:rPr>
              <a:t>Data</a:t>
            </a:r>
            <a:endParaRPr sz="2300" dirty="0"/>
          </a:p>
          <a:p>
            <a:pPr marL="43815">
              <a:lnSpc>
                <a:spcPts val="3165"/>
              </a:lnSpc>
            </a:pPr>
            <a:r>
              <a:rPr sz="2850" spc="-120" dirty="0">
                <a:solidFill>
                  <a:srgbClr val="0A1D2F"/>
                </a:solidFill>
              </a:rPr>
              <a:t>Key</a:t>
            </a:r>
            <a:r>
              <a:rPr sz="2850" spc="-80" dirty="0">
                <a:solidFill>
                  <a:srgbClr val="0A1D2F"/>
                </a:solidFill>
              </a:rPr>
              <a:t> </a:t>
            </a:r>
            <a:r>
              <a:rPr sz="2850" spc="60" dirty="0">
                <a:solidFill>
                  <a:srgbClr val="0A1A34"/>
                </a:solidFill>
              </a:rPr>
              <a:t>Transformation</a:t>
            </a:r>
            <a:r>
              <a:rPr sz="2850" spc="-145" dirty="0">
                <a:solidFill>
                  <a:srgbClr val="0A1A34"/>
                </a:solidFill>
              </a:rPr>
              <a:t> </a:t>
            </a:r>
            <a:r>
              <a:rPr sz="2850" spc="110" dirty="0">
                <a:solidFill>
                  <a:srgbClr val="051631"/>
                </a:solidFill>
              </a:rPr>
              <a:t>Steps</a:t>
            </a:r>
            <a:endParaRPr sz="2850" dirty="0"/>
          </a:p>
          <a:p>
            <a:pPr marL="401320" marR="5011420" indent="-388620">
              <a:lnSpc>
                <a:spcPts val="2900"/>
              </a:lnSpc>
              <a:spcBef>
                <a:spcPts val="1110"/>
              </a:spcBef>
              <a:buChar char="•"/>
              <a:tabLst>
                <a:tab pos="401320" algn="l"/>
                <a:tab pos="403860" algn="l"/>
                <a:tab pos="3827779" algn="l"/>
              </a:tabLst>
            </a:pP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Unpivot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Data:</a:t>
            </a:r>
            <a:r>
              <a:rPr sz="2600" spc="-105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Transformed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30" dirty="0">
                <a:latin typeface="Cambria"/>
                <a:cs typeface="Cambria"/>
              </a:rPr>
              <a:t>dozens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80" dirty="0">
                <a:latin typeface="Cambria"/>
                <a:cs typeface="Cambria"/>
              </a:rPr>
              <a:t>date-</a:t>
            </a:r>
            <a:r>
              <a:rPr sz="2600" spc="-20" dirty="0">
                <a:latin typeface="Cambria"/>
                <a:cs typeface="Cambria"/>
              </a:rPr>
              <a:t>based </a:t>
            </a:r>
            <a:r>
              <a:rPr sz="2600" dirty="0">
                <a:latin typeface="Cambria"/>
                <a:cs typeface="Cambria"/>
              </a:rPr>
              <a:t>columns</a:t>
            </a:r>
            <a:r>
              <a:rPr sz="2600" spc="-70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into</a:t>
            </a:r>
            <a:r>
              <a:rPr sz="2600" spc="-125" dirty="0">
                <a:latin typeface="Cambria"/>
                <a:cs typeface="Cambria"/>
              </a:rPr>
              <a:t> </a:t>
            </a:r>
            <a:r>
              <a:rPr sz="2600" spc="-100" dirty="0">
                <a:latin typeface="Cambria"/>
                <a:cs typeface="Cambria"/>
              </a:rPr>
              <a:t>two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rows:</a:t>
            </a:r>
            <a:r>
              <a:rPr sz="2600" dirty="0">
                <a:latin typeface="Cambria"/>
                <a:cs typeface="Cambria"/>
              </a:rPr>
              <a:t>	Date’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and</a:t>
            </a:r>
            <a:r>
              <a:rPr sz="2600" spc="21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’Value’.</a:t>
            </a:r>
            <a:endParaRPr sz="2600" dirty="0">
              <a:latin typeface="Cambria"/>
              <a:cs typeface="Cambria"/>
            </a:endParaRPr>
          </a:p>
          <a:p>
            <a:pPr marL="394970" marR="4970145" indent="-378460">
              <a:lnSpc>
                <a:spcPct val="85200"/>
              </a:lnSpc>
              <a:spcBef>
                <a:spcPts val="1035"/>
              </a:spcBef>
              <a:buChar char="•"/>
              <a:tabLst>
                <a:tab pos="405765" algn="l"/>
              </a:tabLst>
            </a:pPr>
            <a:r>
              <a:rPr sz="2900" spc="-100" dirty="0"/>
              <a:t>Split</a:t>
            </a:r>
            <a:r>
              <a:rPr sz="2900" spc="-110" dirty="0"/>
              <a:t> </a:t>
            </a:r>
            <a:r>
              <a:rPr sz="2900" spc="-100" dirty="0"/>
              <a:t>Composite</a:t>
            </a:r>
            <a:r>
              <a:rPr sz="2900" spc="55" dirty="0"/>
              <a:t> </a:t>
            </a:r>
            <a:r>
              <a:rPr sz="2900" spc="-90" dirty="0"/>
              <a:t>Fields:</a:t>
            </a:r>
            <a:r>
              <a:rPr sz="2900" spc="-35" dirty="0"/>
              <a:t> </a:t>
            </a:r>
            <a:r>
              <a:rPr sz="2900" spc="-195" dirty="0"/>
              <a:t>Broke</a:t>
            </a:r>
            <a:r>
              <a:rPr sz="2900" spc="-70" dirty="0"/>
              <a:t> </a:t>
            </a:r>
            <a:r>
              <a:rPr sz="2900" spc="-150" dirty="0"/>
              <a:t>down</a:t>
            </a:r>
            <a:r>
              <a:rPr sz="2900" spc="-30" dirty="0"/>
              <a:t> </a:t>
            </a:r>
            <a:r>
              <a:rPr sz="2900" spc="-10" dirty="0"/>
              <a:t>combined 	</a:t>
            </a:r>
            <a:r>
              <a:rPr sz="2850" spc="-75" dirty="0"/>
              <a:t>columns</a:t>
            </a:r>
            <a:r>
              <a:rPr sz="2850" spc="-114" dirty="0"/>
              <a:t> </a:t>
            </a:r>
            <a:r>
              <a:rPr sz="2850" spc="-35" dirty="0"/>
              <a:t>into</a:t>
            </a:r>
            <a:r>
              <a:rPr sz="2850" spc="-145" dirty="0"/>
              <a:t> </a:t>
            </a:r>
            <a:r>
              <a:rPr sz="2850" spc="-25" dirty="0"/>
              <a:t>distinct</a:t>
            </a:r>
            <a:r>
              <a:rPr sz="2850" spc="-15" dirty="0"/>
              <a:t> </a:t>
            </a:r>
            <a:r>
              <a:rPr sz="2850" spc="-55" dirty="0"/>
              <a:t>“Transportation</a:t>
            </a:r>
            <a:r>
              <a:rPr sz="2850" spc="-175" dirty="0"/>
              <a:t> </a:t>
            </a:r>
            <a:r>
              <a:rPr sz="2850" spc="-114" dirty="0"/>
              <a:t>Mode’</a:t>
            </a:r>
            <a:r>
              <a:rPr sz="2850" spc="30" dirty="0"/>
              <a:t> </a:t>
            </a:r>
            <a:r>
              <a:rPr sz="2850" spc="-25" dirty="0"/>
              <a:t>and 	</a:t>
            </a:r>
            <a:r>
              <a:rPr sz="2750" spc="-35" dirty="0"/>
              <a:t>’Metric</a:t>
            </a:r>
            <a:r>
              <a:rPr sz="2750" spc="-140" dirty="0"/>
              <a:t> </a:t>
            </a:r>
            <a:r>
              <a:rPr sz="2750" spc="-10" dirty="0"/>
              <a:t>Type’</a:t>
            </a:r>
            <a:r>
              <a:rPr sz="2750" spc="-85" dirty="0"/>
              <a:t> </a:t>
            </a:r>
            <a:r>
              <a:rPr sz="2750" dirty="0"/>
              <a:t>to</a:t>
            </a:r>
            <a:r>
              <a:rPr sz="2750" spc="-140" dirty="0"/>
              <a:t> </a:t>
            </a:r>
            <a:r>
              <a:rPr sz="2750" dirty="0"/>
              <a:t>enable</a:t>
            </a:r>
            <a:r>
              <a:rPr sz="2750" spc="-160" dirty="0"/>
              <a:t> </a:t>
            </a:r>
            <a:r>
              <a:rPr sz="2750" spc="-10" dirty="0"/>
              <a:t>filtering.</a:t>
            </a:r>
            <a:endParaRPr sz="2750" dirty="0"/>
          </a:p>
          <a:p>
            <a:pPr marL="398145" marR="5307965" indent="-386080">
              <a:lnSpc>
                <a:spcPct val="90800"/>
              </a:lnSpc>
              <a:spcBef>
                <a:spcPts val="1095"/>
              </a:spcBef>
              <a:buChar char="•"/>
              <a:tabLst>
                <a:tab pos="400685" algn="l"/>
                <a:tab pos="2180590" algn="l"/>
              </a:tabLst>
            </a:pPr>
            <a:r>
              <a:rPr sz="2700" spc="-105" dirty="0">
                <a:latin typeface="Cambria"/>
                <a:cs typeface="Cambria"/>
              </a:rPr>
              <a:t>Re-</a:t>
            </a:r>
            <a:r>
              <a:rPr sz="2700" spc="-45" dirty="0">
                <a:latin typeface="Cambria"/>
                <a:cs typeface="Cambria"/>
              </a:rPr>
              <a:t>Pivot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for</a:t>
            </a:r>
            <a:r>
              <a:rPr sz="2700" spc="-120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Metrics:</a:t>
            </a:r>
            <a:r>
              <a:rPr sz="2700" spc="-120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Pivoted</a:t>
            </a:r>
            <a:r>
              <a:rPr sz="2700" spc="50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the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80" dirty="0">
                <a:latin typeface="Cambria"/>
                <a:cs typeface="Cambria"/>
              </a:rPr>
              <a:t>data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20" dirty="0">
                <a:latin typeface="Cambria"/>
                <a:cs typeface="Cambria"/>
              </a:rPr>
              <a:t>to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65" dirty="0">
                <a:latin typeface="Cambria"/>
                <a:cs typeface="Cambria"/>
              </a:rPr>
              <a:t>create 	</a:t>
            </a:r>
            <a:r>
              <a:rPr sz="2700" spc="-45" dirty="0">
                <a:latin typeface="Cambria"/>
                <a:cs typeface="Cambria"/>
              </a:rPr>
              <a:t>clean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55" dirty="0">
                <a:latin typeface="Cambria"/>
                <a:cs typeface="Cambria"/>
              </a:rPr>
              <a:t>columns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50" dirty="0">
                <a:latin typeface="Cambria"/>
                <a:cs typeface="Cambria"/>
              </a:rPr>
              <a:t>’Total</a:t>
            </a:r>
            <a:r>
              <a:rPr sz="2700" spc="-10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Ridership’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and 	</a:t>
            </a:r>
            <a:r>
              <a:rPr sz="2550" spc="-10" dirty="0">
                <a:latin typeface="Cambria"/>
                <a:cs typeface="Cambria"/>
              </a:rPr>
              <a:t>Recovery</a:t>
            </a:r>
            <a:r>
              <a:rPr sz="2550" spc="-35" dirty="0">
                <a:latin typeface="Cambria"/>
                <a:cs typeface="Cambria"/>
              </a:rPr>
              <a:t> </a:t>
            </a:r>
            <a:r>
              <a:rPr sz="2550" spc="-345" dirty="0">
                <a:latin typeface="Cambria"/>
                <a:cs typeface="Cambria"/>
              </a:rPr>
              <a:t>%</a:t>
            </a:r>
            <a:r>
              <a:rPr sz="2550" dirty="0">
                <a:latin typeface="Cambria"/>
                <a:cs typeface="Cambria"/>
              </a:rPr>
              <a:t>	</a:t>
            </a:r>
            <a:r>
              <a:rPr sz="2550" spc="-50" dirty="0">
                <a:latin typeface="Cambria"/>
                <a:cs typeface="Cambria"/>
              </a:rPr>
              <a:t>.</a:t>
            </a:r>
            <a:endParaRPr sz="2550" dirty="0">
              <a:latin typeface="Cambria"/>
              <a:cs typeface="Cambria"/>
            </a:endParaRPr>
          </a:p>
          <a:p>
            <a:pPr marL="412115" marR="5084445" indent="-394970">
              <a:lnSpc>
                <a:spcPts val="2900"/>
              </a:lnSpc>
              <a:spcBef>
                <a:spcPts val="1120"/>
              </a:spcBef>
              <a:buChar char="•"/>
              <a:tabLst>
                <a:tab pos="415290" algn="l"/>
              </a:tabLst>
            </a:pPr>
            <a:r>
              <a:rPr sz="2850" spc="-110" dirty="0"/>
              <a:t>Data</a:t>
            </a:r>
            <a:r>
              <a:rPr sz="2850" spc="-70" dirty="0"/>
              <a:t> Cleansing:</a:t>
            </a:r>
            <a:r>
              <a:rPr sz="2850" spc="-110" dirty="0"/>
              <a:t> </a:t>
            </a:r>
            <a:r>
              <a:rPr sz="2850" spc="-80" dirty="0"/>
              <a:t>Systematically</a:t>
            </a:r>
            <a:r>
              <a:rPr sz="2850" spc="-215" dirty="0"/>
              <a:t> </a:t>
            </a:r>
            <a:r>
              <a:rPr sz="2850" spc="-10" dirty="0"/>
              <a:t>handled</a:t>
            </a:r>
            <a:r>
              <a:rPr sz="2850" spc="-15" dirty="0"/>
              <a:t> </a:t>
            </a:r>
            <a:r>
              <a:rPr sz="2850" spc="-90" dirty="0"/>
              <a:t>null</a:t>
            </a:r>
            <a:r>
              <a:rPr sz="2850" spc="-85" dirty="0"/>
              <a:t> </a:t>
            </a:r>
            <a:r>
              <a:rPr sz="2850" spc="-25" dirty="0"/>
              <a:t>and 	</a:t>
            </a:r>
            <a:r>
              <a:rPr sz="2850" spc="-85" dirty="0"/>
              <a:t>missing</a:t>
            </a:r>
            <a:r>
              <a:rPr sz="2850" spc="-95" dirty="0"/>
              <a:t> </a:t>
            </a:r>
            <a:r>
              <a:rPr sz="2850" spc="-105" dirty="0"/>
              <a:t>values</a:t>
            </a:r>
            <a:r>
              <a:rPr sz="2850" spc="-75" dirty="0"/>
              <a:t> </a:t>
            </a:r>
            <a:r>
              <a:rPr sz="2850" spc="-30" dirty="0"/>
              <a:t>to</a:t>
            </a:r>
            <a:r>
              <a:rPr sz="2850" spc="-145" dirty="0"/>
              <a:t> </a:t>
            </a:r>
            <a:r>
              <a:rPr sz="2850" spc="-30" dirty="0"/>
              <a:t>ensure</a:t>
            </a:r>
            <a:r>
              <a:rPr sz="2850" spc="-105" dirty="0"/>
              <a:t> </a:t>
            </a:r>
            <a:r>
              <a:rPr sz="2850" spc="-25" dirty="0"/>
              <a:t>data</a:t>
            </a:r>
            <a:r>
              <a:rPr sz="2850" spc="-155" dirty="0"/>
              <a:t> </a:t>
            </a:r>
            <a:r>
              <a:rPr sz="2850" spc="-10" dirty="0"/>
              <a:t>integrity.</a:t>
            </a:r>
            <a:endParaRPr sz="2850" dirty="0"/>
          </a:p>
        </p:txBody>
      </p:sp>
      <p:sp>
        <p:nvSpPr>
          <p:cNvPr id="9" name="object 9"/>
          <p:cNvSpPr txBox="1"/>
          <p:nvPr/>
        </p:nvSpPr>
        <p:spPr>
          <a:xfrm>
            <a:off x="13985493" y="2009069"/>
            <a:ext cx="306959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0A0A0A"/>
                </a:solidFill>
                <a:latin typeface="Arial MT"/>
                <a:cs typeface="Arial MT"/>
              </a:rPr>
              <a:t>Long/Normalized</a:t>
            </a:r>
            <a:r>
              <a:rPr sz="2400" spc="16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0" y="4521200"/>
            <a:ext cx="3822700" cy="6731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847916" y="4635500"/>
            <a:ext cx="0" cy="1583690"/>
          </a:xfrm>
          <a:custGeom>
            <a:avLst/>
            <a:gdLst/>
            <a:ahLst/>
            <a:cxnLst/>
            <a:rect l="l" t="t" r="r" b="b"/>
            <a:pathLst>
              <a:path h="1583689">
                <a:moveTo>
                  <a:pt x="0" y="15832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28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837333" y="4635500"/>
            <a:ext cx="3895090" cy="1583690"/>
            <a:chOff x="10837333" y="4635500"/>
            <a:chExt cx="3895090" cy="1583690"/>
          </a:xfrm>
        </p:grpSpPr>
        <p:sp>
          <p:nvSpPr>
            <p:cNvPr id="5" name="object 5"/>
            <p:cNvSpPr/>
            <p:nvPr/>
          </p:nvSpPr>
          <p:spPr>
            <a:xfrm>
              <a:off x="14721412" y="4635500"/>
              <a:ext cx="0" cy="1583690"/>
            </a:xfrm>
            <a:custGeom>
              <a:avLst/>
              <a:gdLst/>
              <a:ahLst/>
              <a:cxnLst/>
              <a:rect l="l" t="t" r="r" b="b"/>
              <a:pathLst>
                <a:path h="1583689">
                  <a:moveTo>
                    <a:pt x="0" y="1583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32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37333" y="4646083"/>
              <a:ext cx="3895090" cy="0"/>
            </a:xfrm>
            <a:custGeom>
              <a:avLst/>
              <a:gdLst/>
              <a:ahLst/>
              <a:cxnLst/>
              <a:rect l="l" t="t" r="r" b="b"/>
              <a:pathLst>
                <a:path w="3895090">
                  <a:moveTo>
                    <a:pt x="0" y="0"/>
                  </a:moveTo>
                  <a:lnTo>
                    <a:pt x="3894666" y="0"/>
                  </a:lnTo>
                </a:path>
              </a:pathLst>
            </a:custGeom>
            <a:ln w="21166">
              <a:solidFill>
                <a:srgbClr val="132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65514" y="497416"/>
            <a:ext cx="15631160" cy="26019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9490075" algn="l"/>
              </a:tabLst>
            </a:pPr>
            <a:r>
              <a:rPr lang="en-US" sz="6000" b="1" dirty="0"/>
              <a:t>Structuring the Information</a:t>
            </a:r>
            <a:br>
              <a:rPr lang="ar-EG" sz="6000" b="1" dirty="0"/>
            </a:br>
            <a:r>
              <a:rPr lang="en-US" sz="4800" dirty="0">
                <a:highlight>
                  <a:srgbClr val="808080"/>
                </a:highlight>
              </a:rPr>
              <a:t>Building a Clear Data Story</a:t>
            </a:r>
            <a:br>
              <a:rPr lang="en-US" sz="6000" dirty="0"/>
            </a:br>
            <a:endParaRPr sz="6000" b="1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832" y="2598208"/>
            <a:ext cx="6498590" cy="37465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4445">
              <a:lnSpc>
                <a:spcPct val="98000"/>
              </a:lnSpc>
              <a:spcBef>
                <a:spcPts val="175"/>
              </a:spcBef>
            </a:pPr>
            <a:r>
              <a:rPr sz="3550" dirty="0">
                <a:latin typeface="Cambria"/>
                <a:cs typeface="Cambria"/>
              </a:rPr>
              <a:t>A</a:t>
            </a:r>
            <a:r>
              <a:rPr sz="3550" spc="-210" dirty="0">
                <a:latin typeface="Cambria"/>
                <a:cs typeface="Cambria"/>
              </a:rPr>
              <a:t> </a:t>
            </a:r>
            <a:r>
              <a:rPr sz="3550" spc="-155" dirty="0">
                <a:latin typeface="Cambria"/>
                <a:cs typeface="Cambria"/>
              </a:rPr>
              <a:t>star</a:t>
            </a:r>
            <a:r>
              <a:rPr sz="3550" spc="-55" dirty="0">
                <a:latin typeface="Cambria"/>
                <a:cs typeface="Cambria"/>
              </a:rPr>
              <a:t> </a:t>
            </a:r>
            <a:r>
              <a:rPr sz="3550" spc="-114" dirty="0">
                <a:latin typeface="Cambria"/>
                <a:cs typeface="Cambria"/>
              </a:rPr>
              <a:t>schema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229" dirty="0">
                <a:latin typeface="Cambria"/>
                <a:cs typeface="Cambria"/>
              </a:rPr>
              <a:t>was</a:t>
            </a:r>
            <a:r>
              <a:rPr sz="3550" spc="30" dirty="0">
                <a:latin typeface="Cambria"/>
                <a:cs typeface="Cambria"/>
              </a:rPr>
              <a:t> </a:t>
            </a:r>
            <a:r>
              <a:rPr sz="3550" spc="-130" dirty="0">
                <a:latin typeface="Cambria"/>
                <a:cs typeface="Cambria"/>
              </a:rPr>
              <a:t>implemented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to </a:t>
            </a:r>
            <a:r>
              <a:rPr sz="3550" spc="-135" dirty="0">
                <a:latin typeface="Cambria"/>
                <a:cs typeface="Cambria"/>
              </a:rPr>
              <a:t>create</a:t>
            </a:r>
            <a:r>
              <a:rPr sz="3550" spc="-6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a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clean,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eNcient,</a:t>
            </a:r>
            <a:r>
              <a:rPr sz="3550" spc="75" dirty="0">
                <a:latin typeface="Cambria"/>
                <a:cs typeface="Cambria"/>
              </a:rPr>
              <a:t> </a:t>
            </a:r>
            <a:r>
              <a:rPr sz="3550" spc="-145" dirty="0">
                <a:latin typeface="Cambria"/>
                <a:cs typeface="Cambria"/>
              </a:rPr>
              <a:t>and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highly </a:t>
            </a:r>
            <a:r>
              <a:rPr sz="3550" spc="-130" dirty="0">
                <a:latin typeface="Cambria"/>
                <a:cs typeface="Cambria"/>
              </a:rPr>
              <a:t>performant</a:t>
            </a:r>
            <a:r>
              <a:rPr sz="3550" spc="-10" dirty="0">
                <a:latin typeface="Cambria"/>
                <a:cs typeface="Cambria"/>
              </a:rPr>
              <a:t> </a:t>
            </a:r>
            <a:r>
              <a:rPr sz="3550" spc="-105" dirty="0">
                <a:latin typeface="Cambria"/>
                <a:cs typeface="Cambria"/>
              </a:rPr>
              <a:t>model.</a:t>
            </a:r>
            <a:r>
              <a:rPr sz="3550" spc="-95" dirty="0">
                <a:latin typeface="Cambria"/>
                <a:cs typeface="Cambria"/>
              </a:rPr>
              <a:t> </a:t>
            </a:r>
            <a:r>
              <a:rPr sz="3550" spc="-90" dirty="0">
                <a:latin typeface="Cambria"/>
                <a:cs typeface="Cambria"/>
              </a:rPr>
              <a:t>This</a:t>
            </a:r>
            <a:r>
              <a:rPr sz="3550" spc="-10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structure </a:t>
            </a:r>
            <a:r>
              <a:rPr sz="3550" spc="-165" dirty="0">
                <a:latin typeface="Cambria"/>
                <a:cs typeface="Cambria"/>
              </a:rPr>
              <a:t>separates</a:t>
            </a:r>
            <a:r>
              <a:rPr sz="3550" spc="-30" dirty="0">
                <a:latin typeface="Cambria"/>
                <a:cs typeface="Cambria"/>
              </a:rPr>
              <a:t> </a:t>
            </a:r>
            <a:r>
              <a:rPr sz="3550" spc="-145" dirty="0">
                <a:latin typeface="Cambria"/>
                <a:cs typeface="Cambria"/>
              </a:rPr>
              <a:t>quantitative</a:t>
            </a:r>
            <a:r>
              <a:rPr sz="3550" spc="85" dirty="0">
                <a:latin typeface="Cambria"/>
                <a:cs typeface="Cambria"/>
              </a:rPr>
              <a:t> </a:t>
            </a:r>
            <a:r>
              <a:rPr sz="3550" spc="-170" dirty="0">
                <a:latin typeface="Cambria"/>
                <a:cs typeface="Cambria"/>
              </a:rPr>
              <a:t>data</a:t>
            </a:r>
            <a:r>
              <a:rPr sz="3550" spc="-35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(facts) </a:t>
            </a:r>
            <a:r>
              <a:rPr sz="3550" spc="-95" dirty="0">
                <a:latin typeface="Cambria"/>
                <a:cs typeface="Cambria"/>
              </a:rPr>
              <a:t>from</a:t>
            </a:r>
            <a:r>
              <a:rPr sz="3550" spc="-105" dirty="0">
                <a:latin typeface="Cambria"/>
                <a:cs typeface="Cambria"/>
              </a:rPr>
              <a:t> </a:t>
            </a:r>
            <a:r>
              <a:rPr sz="3550" spc="-145" dirty="0">
                <a:latin typeface="Cambria"/>
                <a:cs typeface="Cambria"/>
              </a:rPr>
              <a:t>descriptive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-140" dirty="0">
                <a:latin typeface="Cambria"/>
                <a:cs typeface="Cambria"/>
              </a:rPr>
              <a:t>data</a:t>
            </a:r>
            <a:r>
              <a:rPr sz="3550" spc="-75" dirty="0">
                <a:latin typeface="Cambria"/>
                <a:cs typeface="Cambria"/>
              </a:rPr>
              <a:t> </a:t>
            </a:r>
            <a:r>
              <a:rPr sz="3550" spc="-70" dirty="0">
                <a:latin typeface="Cambria"/>
                <a:cs typeface="Cambria"/>
              </a:rPr>
              <a:t>(dimensions), </a:t>
            </a:r>
            <a:r>
              <a:rPr sz="3550" spc="-125" dirty="0">
                <a:latin typeface="Cambria"/>
                <a:cs typeface="Cambria"/>
              </a:rPr>
              <a:t>which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is</a:t>
            </a:r>
            <a:r>
              <a:rPr sz="3550" spc="-185" dirty="0">
                <a:latin typeface="Cambria"/>
                <a:cs typeface="Cambria"/>
              </a:rPr>
              <a:t> </a:t>
            </a:r>
            <a:r>
              <a:rPr sz="3550" spc="-80" dirty="0">
                <a:latin typeface="Cambria"/>
                <a:cs typeface="Cambria"/>
              </a:rPr>
              <a:t>the</a:t>
            </a:r>
            <a:r>
              <a:rPr sz="3550" spc="-114" dirty="0">
                <a:latin typeface="Cambria"/>
                <a:cs typeface="Cambria"/>
              </a:rPr>
              <a:t> </a:t>
            </a:r>
            <a:r>
              <a:rPr sz="3550" spc="-160" dirty="0">
                <a:latin typeface="Cambria"/>
                <a:cs typeface="Cambria"/>
              </a:rPr>
              <a:t>bedrock</a:t>
            </a:r>
            <a:r>
              <a:rPr sz="3550" spc="-40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of</a:t>
            </a:r>
            <a:r>
              <a:rPr sz="3550" spc="-165" dirty="0">
                <a:latin typeface="Cambria"/>
                <a:cs typeface="Cambria"/>
              </a:rPr>
              <a:t> </a:t>
            </a:r>
            <a:r>
              <a:rPr sz="3550" spc="-75" dirty="0">
                <a:latin typeface="Cambria"/>
                <a:cs typeface="Cambria"/>
              </a:rPr>
              <a:t>flexible</a:t>
            </a:r>
            <a:r>
              <a:rPr sz="3550" spc="30" dirty="0">
                <a:latin typeface="Cambria"/>
                <a:cs typeface="Cambria"/>
              </a:rPr>
              <a:t> </a:t>
            </a:r>
            <a:r>
              <a:rPr sz="3550" spc="-75" dirty="0">
                <a:latin typeface="Cambria"/>
                <a:cs typeface="Cambria"/>
              </a:rPr>
              <a:t>bus- </a:t>
            </a:r>
            <a:r>
              <a:rPr sz="3550" spc="-105" dirty="0">
                <a:latin typeface="Cambria"/>
                <a:cs typeface="Cambria"/>
              </a:rPr>
              <a:t>iness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intelligence.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49029" y="1935338"/>
            <a:ext cx="127762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72465" algn="l"/>
              </a:tabLst>
            </a:pPr>
            <a:r>
              <a:rPr sz="2350" spc="-25" dirty="0">
                <a:latin typeface="Cambria"/>
                <a:cs typeface="Cambria"/>
              </a:rPr>
              <a:t>Dim</a:t>
            </a:r>
            <a:r>
              <a:rPr sz="2350" dirty="0">
                <a:latin typeface="Cambria"/>
                <a:cs typeface="Cambria"/>
              </a:rPr>
              <a:t>	</a:t>
            </a:r>
            <a:r>
              <a:rPr sz="2350" spc="-20" dirty="0">
                <a:latin typeface="Cambria"/>
                <a:cs typeface="Cambria"/>
              </a:rPr>
              <a:t>Date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2316" y="2535766"/>
            <a:ext cx="3046095" cy="660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445">
              <a:lnSpc>
                <a:spcPct val="101600"/>
              </a:lnSpc>
              <a:spcBef>
                <a:spcPts val="90"/>
              </a:spcBef>
            </a:pPr>
            <a:r>
              <a:rPr sz="2050" dirty="0">
                <a:latin typeface="Cambria"/>
                <a:cs typeface="Cambria"/>
              </a:rPr>
              <a:t>(Contains</a:t>
            </a:r>
            <a:r>
              <a:rPr sz="2050" spc="10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date</a:t>
            </a:r>
            <a:r>
              <a:rPr sz="2050" spc="8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hierarchies: </a:t>
            </a:r>
            <a:r>
              <a:rPr sz="2050" spc="-30" dirty="0">
                <a:latin typeface="Cambria"/>
                <a:cs typeface="Cambria"/>
              </a:rPr>
              <a:t>year,</a:t>
            </a:r>
            <a:r>
              <a:rPr sz="2050" spc="5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month, </a:t>
            </a:r>
            <a:r>
              <a:rPr sz="2050" dirty="0">
                <a:latin typeface="Cambria"/>
                <a:cs typeface="Cambria"/>
              </a:rPr>
              <a:t>day,</a:t>
            </a:r>
            <a:r>
              <a:rPr sz="2050" spc="-2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weekday)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7916" y="5247216"/>
            <a:ext cx="3873500" cy="961390"/>
          </a:xfrm>
          <a:prstGeom prst="rect">
            <a:avLst/>
          </a:prstGeom>
          <a:ln w="21166">
            <a:solidFill>
              <a:srgbClr val="13283F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58115" marR="137160" indent="433070">
              <a:lnSpc>
                <a:spcPct val="101600"/>
              </a:lnSpc>
              <a:spcBef>
                <a:spcPts val="640"/>
              </a:spcBef>
            </a:pPr>
            <a:r>
              <a:rPr sz="2050" spc="-45" dirty="0">
                <a:latin typeface="Arial MT"/>
                <a:cs typeface="Arial MT"/>
              </a:rPr>
              <a:t>(Contains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daily</a:t>
            </a:r>
            <a:r>
              <a:rPr sz="2050" spc="-13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ridership </a:t>
            </a:r>
            <a:r>
              <a:rPr sz="2050" spc="-50" dirty="0">
                <a:latin typeface="Arial MT"/>
                <a:cs typeface="Arial MT"/>
              </a:rPr>
              <a:t>numbers,</a:t>
            </a:r>
            <a:r>
              <a:rPr sz="2050" spc="-95" dirty="0">
                <a:latin typeface="Arial MT"/>
                <a:cs typeface="Arial MT"/>
              </a:rPr>
              <a:t> </a:t>
            </a:r>
            <a:r>
              <a:rPr sz="2050" spc="-35" dirty="0">
                <a:latin typeface="Arial MT"/>
                <a:cs typeface="Arial MT"/>
              </a:rPr>
              <a:t>recovery</a:t>
            </a:r>
            <a:r>
              <a:rPr sz="2050" spc="-90" dirty="0">
                <a:latin typeface="Arial MT"/>
                <a:cs typeface="Arial MT"/>
              </a:rPr>
              <a:t> </a:t>
            </a:r>
            <a:r>
              <a:rPr sz="2050" spc="-55" dirty="0">
                <a:latin typeface="Arial MT"/>
                <a:cs typeface="Arial MT"/>
              </a:rPr>
              <a:t>percentages)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88048" y="7508169"/>
            <a:ext cx="3037840" cy="1290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30"/>
              </a:spcBef>
            </a:pPr>
            <a:r>
              <a:rPr sz="2400" spc="-45" dirty="0">
                <a:latin typeface="Cambria"/>
                <a:cs typeface="Cambria"/>
              </a:rPr>
              <a:t>Dim_Transport</a:t>
            </a:r>
            <a:endParaRPr sz="2400">
              <a:latin typeface="Cambria"/>
              <a:cs typeface="Cambria"/>
            </a:endParaRPr>
          </a:p>
          <a:p>
            <a:pPr marL="12065" marR="5080" indent="-33655" algn="ctr">
              <a:lnSpc>
                <a:spcPts val="2450"/>
              </a:lnSpc>
              <a:spcBef>
                <a:spcPts val="2210"/>
              </a:spcBef>
            </a:pPr>
            <a:r>
              <a:rPr sz="2150" spc="-45" dirty="0">
                <a:latin typeface="Cambria"/>
                <a:cs typeface="Cambria"/>
              </a:rPr>
              <a:t>(Contains</a:t>
            </a:r>
            <a:r>
              <a:rPr sz="2150" spc="-80" dirty="0">
                <a:latin typeface="Cambria"/>
                <a:cs typeface="Cambria"/>
              </a:rPr>
              <a:t> </a:t>
            </a:r>
            <a:r>
              <a:rPr sz="2150" spc="-90" dirty="0">
                <a:latin typeface="Cambria"/>
                <a:cs typeface="Cambria"/>
              </a:rPr>
              <a:t>transit</a:t>
            </a:r>
            <a:r>
              <a:rPr sz="2150" spc="9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modes: </a:t>
            </a:r>
            <a:r>
              <a:rPr sz="2150" spc="-45" dirty="0">
                <a:latin typeface="Cambria"/>
                <a:cs typeface="Cambria"/>
              </a:rPr>
              <a:t>Subways,</a:t>
            </a:r>
            <a:r>
              <a:rPr sz="2150" spc="-75" dirty="0">
                <a:latin typeface="Cambria"/>
                <a:cs typeface="Cambria"/>
              </a:rPr>
              <a:t> </a:t>
            </a:r>
            <a:r>
              <a:rPr sz="2150" spc="-35" dirty="0">
                <a:latin typeface="Cambria"/>
                <a:cs typeface="Cambria"/>
              </a:rPr>
              <a:t>Buses,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-75" dirty="0">
                <a:latin typeface="Cambria"/>
                <a:cs typeface="Cambria"/>
              </a:rPr>
              <a:t>Rails,</a:t>
            </a:r>
            <a:r>
              <a:rPr sz="2150" spc="-4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etc.)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275" y="680155"/>
            <a:ext cx="15612649" cy="1515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00"/>
              </a:spcBef>
            </a:pPr>
            <a:r>
              <a:rPr lang="en-US" sz="4800" b="1" dirty="0"/>
              <a:t>Key Metrics</a:t>
            </a:r>
            <a:r>
              <a:rPr sz="5000" dirty="0">
                <a:solidFill>
                  <a:srgbClr val="031F3D"/>
                </a:solidFill>
              </a:rPr>
              <a:t>:</a:t>
            </a:r>
            <a:r>
              <a:rPr sz="5000" spc="-165" dirty="0">
                <a:solidFill>
                  <a:srgbClr val="031F3D"/>
                </a:solidFill>
              </a:rPr>
              <a:t> </a:t>
            </a:r>
            <a:r>
              <a:rPr lang="en-US" sz="4800" dirty="0">
                <a:highlight>
                  <a:srgbClr val="808080"/>
                </a:highlight>
              </a:rPr>
              <a:t>How We Measured Recovery</a:t>
            </a:r>
            <a:endParaRPr sz="5000" dirty="0">
              <a:highlight>
                <a:srgbClr val="808080"/>
              </a:highlight>
            </a:endParaRPr>
          </a:p>
          <a:p>
            <a:pPr marL="45720">
              <a:lnSpc>
                <a:spcPct val="100000"/>
              </a:lnSpc>
              <a:spcBef>
                <a:spcPts val="700"/>
              </a:spcBef>
            </a:pPr>
            <a:r>
              <a:rPr sz="3300" spc="-35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3300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25" dirty="0">
                <a:solidFill>
                  <a:srgbClr val="000000"/>
                </a:solidFill>
                <a:latin typeface="Times New Roman"/>
                <a:cs typeface="Times New Roman"/>
              </a:rPr>
              <a:t>create</a:t>
            </a:r>
            <a:r>
              <a:rPr sz="3300" spc="-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30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55" dirty="0">
                <a:solidFill>
                  <a:srgbClr val="000000"/>
                </a:solidFill>
                <a:latin typeface="Times New Roman"/>
                <a:cs typeface="Times New Roman"/>
              </a:rPr>
              <a:t>library</a:t>
            </a:r>
            <a:r>
              <a:rPr sz="33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10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33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50" dirty="0">
                <a:solidFill>
                  <a:srgbClr val="000000"/>
                </a:solidFill>
                <a:latin typeface="Times New Roman"/>
                <a:cs typeface="Times New Roman"/>
              </a:rPr>
              <a:t>robust,</a:t>
            </a:r>
            <a:r>
              <a:rPr sz="3300" spc="-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40" dirty="0">
                <a:solidFill>
                  <a:srgbClr val="000000"/>
                </a:solidFill>
                <a:latin typeface="Times New Roman"/>
                <a:cs typeface="Times New Roman"/>
              </a:rPr>
              <a:t>reusable</a:t>
            </a:r>
            <a:r>
              <a:rPr sz="3300" spc="-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65" dirty="0">
                <a:solidFill>
                  <a:srgbClr val="000000"/>
                </a:solidFill>
                <a:latin typeface="Times New Roman"/>
                <a:cs typeface="Times New Roman"/>
              </a:rPr>
              <a:t>measures</a:t>
            </a:r>
            <a:r>
              <a:rPr sz="3300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000000"/>
                </a:solidFill>
                <a:latin typeface="Times New Roman"/>
                <a:cs typeface="Times New Roman"/>
              </a:rPr>
              <a:t>that</a:t>
            </a:r>
            <a:r>
              <a:rPr sz="3300" spc="-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125" dirty="0">
                <a:solidFill>
                  <a:srgbClr val="000000"/>
                </a:solidFill>
                <a:latin typeface="Times New Roman"/>
                <a:cs typeface="Times New Roman"/>
              </a:rPr>
              <a:t>provide</a:t>
            </a:r>
            <a:r>
              <a:rPr sz="33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40" dirty="0">
                <a:solidFill>
                  <a:srgbClr val="000000"/>
                </a:solidFill>
                <a:latin typeface="Times New Roman"/>
                <a:cs typeface="Times New Roman"/>
              </a:rPr>
              <a:t>insight</a:t>
            </a:r>
            <a:r>
              <a:rPr sz="33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114" dirty="0">
                <a:solidFill>
                  <a:srgbClr val="000000"/>
                </a:solidFill>
                <a:latin typeface="Times New Roman"/>
                <a:cs typeface="Times New Roman"/>
              </a:rPr>
              <a:t>beyond</a:t>
            </a:r>
            <a:r>
              <a:rPr sz="33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33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160" dirty="0">
                <a:solidFill>
                  <a:srgbClr val="000000"/>
                </a:solidFill>
                <a:latin typeface="Times New Roman"/>
                <a:cs typeface="Times New Roman"/>
              </a:rPr>
              <a:t>raw</a:t>
            </a:r>
            <a:r>
              <a:rPr sz="33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300" spc="-10" dirty="0">
                <a:solidFill>
                  <a:srgbClr val="000000"/>
                </a:solidFill>
                <a:latin typeface="Times New Roman"/>
                <a:cs typeface="Times New Roman"/>
              </a:rPr>
              <a:t>numbers.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9808" y="4345869"/>
            <a:ext cx="4472305" cy="2585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">
              <a:lnSpc>
                <a:spcPts val="2715"/>
              </a:lnSpc>
              <a:spcBef>
                <a:spcPts val="130"/>
              </a:spcBef>
            </a:pPr>
            <a:r>
              <a:rPr sz="2400" spc="-25" dirty="0">
                <a:latin typeface="Arial MT"/>
                <a:cs typeface="Arial MT"/>
              </a:rPr>
              <a:t>Measure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Name: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125"/>
              </a:lnSpc>
            </a:pPr>
            <a:r>
              <a:rPr sz="2900" spc="-10" dirty="0">
                <a:solidFill>
                  <a:srgbClr val="161616"/>
                </a:solidFill>
                <a:latin typeface="Arial MT"/>
                <a:cs typeface="Arial MT"/>
              </a:rPr>
              <a:t>Month-over-Month</a:t>
            </a:r>
            <a:endParaRPr sz="2900">
              <a:latin typeface="Arial MT"/>
              <a:cs typeface="Arial MT"/>
            </a:endParaRPr>
          </a:p>
          <a:p>
            <a:pPr marL="20320">
              <a:lnSpc>
                <a:spcPts val="3229"/>
              </a:lnSpc>
            </a:pPr>
            <a:r>
              <a:rPr sz="2850" dirty="0">
                <a:solidFill>
                  <a:srgbClr val="03132A"/>
                </a:solidFill>
                <a:latin typeface="Arial MT"/>
                <a:cs typeface="Arial MT"/>
              </a:rPr>
              <a:t>Growth</a:t>
            </a:r>
            <a:r>
              <a:rPr sz="2850" spc="-185" dirty="0">
                <a:solidFill>
                  <a:srgbClr val="03132A"/>
                </a:solidFill>
                <a:latin typeface="Arial MT"/>
                <a:cs typeface="Arial MT"/>
              </a:rPr>
              <a:t> </a:t>
            </a:r>
            <a:r>
              <a:rPr sz="2850" spc="-25" dirty="0">
                <a:solidFill>
                  <a:srgbClr val="181818"/>
                </a:solidFill>
                <a:latin typeface="Arial MT"/>
                <a:cs typeface="Arial MT"/>
              </a:rPr>
              <a:t>•/</a:t>
            </a:r>
            <a:endParaRPr sz="2850">
              <a:latin typeface="Arial MT"/>
              <a:cs typeface="Arial MT"/>
            </a:endParaRPr>
          </a:p>
          <a:p>
            <a:pPr marL="20320">
              <a:lnSpc>
                <a:spcPts val="3010"/>
              </a:lnSpc>
              <a:spcBef>
                <a:spcPts val="2230"/>
              </a:spcBef>
            </a:pPr>
            <a:r>
              <a:rPr sz="2600" spc="-10" dirty="0">
                <a:latin typeface="Cambria"/>
                <a:cs typeface="Cambria"/>
              </a:rPr>
              <a:t>Description:</a:t>
            </a:r>
            <a:endParaRPr sz="2600">
              <a:latin typeface="Cambria"/>
              <a:cs typeface="Cambria"/>
            </a:endParaRPr>
          </a:p>
          <a:p>
            <a:pPr marL="26034" marR="5080" indent="-6350">
              <a:lnSpc>
                <a:spcPts val="2800"/>
              </a:lnSpc>
              <a:spcBef>
                <a:spcPts val="250"/>
              </a:spcBef>
            </a:pPr>
            <a:r>
              <a:rPr sz="2600" spc="-75" dirty="0">
                <a:latin typeface="Cambria"/>
                <a:cs typeface="Cambria"/>
              </a:rPr>
              <a:t>Reveals</a:t>
            </a:r>
            <a:r>
              <a:rPr sz="2600" spc="-70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the</a:t>
            </a:r>
            <a:r>
              <a:rPr sz="2600" spc="-95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recent</a:t>
            </a:r>
            <a:r>
              <a:rPr sz="2600" spc="-70" dirty="0">
                <a:latin typeface="Cambria"/>
                <a:cs typeface="Cambria"/>
              </a:rPr>
              <a:t> </a:t>
            </a:r>
            <a:r>
              <a:rPr sz="2600" spc="-75" dirty="0">
                <a:latin typeface="Cambria"/>
                <a:cs typeface="Cambria"/>
              </a:rPr>
              <a:t>momentum</a:t>
            </a:r>
            <a:r>
              <a:rPr sz="2600" spc="2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of </a:t>
            </a:r>
            <a:r>
              <a:rPr sz="2600" spc="-85" dirty="0">
                <a:latin typeface="Cambria"/>
                <a:cs typeface="Cambria"/>
              </a:rPr>
              <a:t>ridership</a:t>
            </a:r>
            <a:r>
              <a:rPr sz="2600" spc="1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recovery.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2886" y="7654572"/>
            <a:ext cx="4313555" cy="81724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 indent="227329">
              <a:lnSpc>
                <a:spcPts val="2900"/>
              </a:lnSpc>
              <a:spcBef>
                <a:spcPts val="555"/>
              </a:spcBef>
            </a:pPr>
            <a:r>
              <a:rPr sz="2750" spc="-160" dirty="0">
                <a:solidFill>
                  <a:srgbClr val="646464"/>
                </a:solidFill>
                <a:latin typeface="Arial MT"/>
                <a:cs typeface="Arial MT"/>
              </a:rPr>
              <a:t>/›s›vrring:</a:t>
            </a:r>
            <a:r>
              <a:rPr sz="2750" spc="-1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2750" i="1" spc="-240" dirty="0">
                <a:latin typeface="Arial"/>
                <a:cs typeface="Arial"/>
              </a:rPr>
              <a:t>Are</a:t>
            </a:r>
            <a:r>
              <a:rPr sz="2750" i="1" spc="-450" dirty="0">
                <a:latin typeface="Arial"/>
                <a:cs typeface="Arial"/>
              </a:rPr>
              <a:t> </a:t>
            </a:r>
            <a:r>
              <a:rPr sz="2750" i="1" spc="-240" dirty="0">
                <a:latin typeface="Arial"/>
                <a:cs typeface="Arial"/>
              </a:rPr>
              <a:t>we</a:t>
            </a:r>
            <a:r>
              <a:rPr sz="2750" i="1" spc="-280" dirty="0">
                <a:latin typeface="Arial"/>
                <a:cs typeface="Arial"/>
              </a:rPr>
              <a:t> </a:t>
            </a:r>
            <a:r>
              <a:rPr sz="2750" i="1" spc="-150" dirty="0">
                <a:latin typeface="Arial"/>
                <a:cs typeface="Arial"/>
              </a:rPr>
              <a:t>growing,</a:t>
            </a:r>
            <a:r>
              <a:rPr sz="2750" i="1" spc="15" dirty="0">
                <a:latin typeface="Arial"/>
                <a:cs typeface="Arial"/>
              </a:rPr>
              <a:t> </a:t>
            </a:r>
            <a:r>
              <a:rPr sz="2750" i="1" spc="-195" dirty="0">
                <a:latin typeface="Arial"/>
                <a:cs typeface="Arial"/>
              </a:rPr>
              <a:t>and </a:t>
            </a:r>
            <a:r>
              <a:rPr sz="2750" i="1" spc="-25" dirty="0">
                <a:latin typeface="Arial"/>
                <a:cs typeface="Arial"/>
              </a:rPr>
              <a:t>howfasti'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4517" y="4354688"/>
            <a:ext cx="3305810" cy="783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>
              <a:lnSpc>
                <a:spcPts val="2735"/>
              </a:lnSpc>
              <a:spcBef>
                <a:spcPts val="110"/>
              </a:spcBef>
            </a:pPr>
            <a:r>
              <a:rPr sz="2350" dirty="0">
                <a:latin typeface="Arial MT"/>
                <a:cs typeface="Arial MT"/>
              </a:rPr>
              <a:t>Measure</a:t>
            </a:r>
            <a:r>
              <a:rPr sz="2350" spc="2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Name:</a:t>
            </a:r>
            <a:endParaRPr sz="2350">
              <a:latin typeface="Arial MT"/>
              <a:cs typeface="Arial MT"/>
            </a:endParaRPr>
          </a:p>
          <a:p>
            <a:pPr marL="12700">
              <a:lnSpc>
                <a:spcPts val="3215"/>
              </a:lnSpc>
            </a:pPr>
            <a:r>
              <a:rPr sz="2750" dirty="0">
                <a:solidFill>
                  <a:srgbClr val="051F3D"/>
                </a:solidFill>
                <a:latin typeface="Arial MT"/>
                <a:cs typeface="Arial MT"/>
              </a:rPr>
              <a:t>Average</a:t>
            </a:r>
            <a:r>
              <a:rPr sz="2750" spc="-35" dirty="0">
                <a:solidFill>
                  <a:srgbClr val="051F3D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081D33"/>
                </a:solidFill>
                <a:latin typeface="Arial MT"/>
                <a:cs typeface="Arial MT"/>
              </a:rPr>
              <a:t>Recovery</a:t>
            </a:r>
            <a:r>
              <a:rPr sz="2750" spc="25" dirty="0">
                <a:solidFill>
                  <a:srgbClr val="081D33"/>
                </a:solidFill>
                <a:latin typeface="Arial MT"/>
                <a:cs typeface="Arial MT"/>
              </a:rPr>
              <a:t> </a:t>
            </a:r>
            <a:r>
              <a:rPr sz="2750" spc="-60" dirty="0">
                <a:solidFill>
                  <a:srgbClr val="0F0F0F"/>
                </a:solidFill>
                <a:latin typeface="Arial MT"/>
                <a:cs typeface="Arial MT"/>
              </a:rPr>
              <a:t>%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6900" y="5779911"/>
            <a:ext cx="4085590" cy="1149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010"/>
              </a:lnSpc>
              <a:spcBef>
                <a:spcPts val="135"/>
              </a:spcBef>
            </a:pPr>
            <a:r>
              <a:rPr sz="2600" spc="-10" dirty="0">
                <a:latin typeface="Cambria"/>
                <a:cs typeface="Cambria"/>
              </a:rPr>
              <a:t>Description: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600" spc="-55" dirty="0">
                <a:latin typeface="Cambria"/>
                <a:cs typeface="Cambria"/>
              </a:rPr>
              <a:t>Benchmarks</a:t>
            </a:r>
            <a:r>
              <a:rPr sz="2600" spc="-70" dirty="0">
                <a:latin typeface="Cambria"/>
                <a:cs typeface="Cambria"/>
              </a:rPr>
              <a:t> </a:t>
            </a:r>
            <a:r>
              <a:rPr sz="2600" spc="-65" dirty="0">
                <a:latin typeface="Cambria"/>
                <a:cs typeface="Cambria"/>
              </a:rPr>
              <a:t>current</a:t>
            </a:r>
            <a:r>
              <a:rPr sz="2600" spc="-80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ridership</a:t>
            </a:r>
            <a:endParaRPr sz="2600">
              <a:latin typeface="Cambria"/>
              <a:cs typeface="Cambria"/>
            </a:endParaRPr>
          </a:p>
          <a:p>
            <a:pPr marL="19685">
              <a:lnSpc>
                <a:spcPts val="2925"/>
              </a:lnSpc>
            </a:pPr>
            <a:r>
              <a:rPr sz="2550" spc="-45" dirty="0">
                <a:latin typeface="Cambria"/>
                <a:cs typeface="Cambria"/>
              </a:rPr>
              <a:t>against</a:t>
            </a:r>
            <a:r>
              <a:rPr sz="2550" spc="-50" dirty="0">
                <a:latin typeface="Cambria"/>
                <a:cs typeface="Cambria"/>
              </a:rPr>
              <a:t> </a:t>
            </a:r>
            <a:r>
              <a:rPr sz="2550" spc="-70" dirty="0">
                <a:latin typeface="Cambria"/>
                <a:cs typeface="Cambria"/>
              </a:rPr>
              <a:t>pre-</a:t>
            </a:r>
            <a:r>
              <a:rPr sz="2550" spc="-45" dirty="0">
                <a:latin typeface="Cambria"/>
                <a:cs typeface="Cambria"/>
              </a:rPr>
              <a:t>pandemic</a:t>
            </a:r>
            <a:r>
              <a:rPr sz="2550" spc="65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levels.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4000" y="7663391"/>
            <a:ext cx="41871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16050" algn="l"/>
              </a:tabLst>
            </a:pPr>
            <a:r>
              <a:rPr sz="2700" spc="-30" dirty="0">
                <a:solidFill>
                  <a:srgbClr val="626262"/>
                </a:solidFill>
                <a:latin typeface="Arial MT"/>
                <a:cs typeface="Arial MT"/>
              </a:rPr>
              <a:t>/l7S‹›’rr‹n</a:t>
            </a:r>
            <a:r>
              <a:rPr sz="2700" dirty="0">
                <a:solidFill>
                  <a:srgbClr val="626262"/>
                </a:solidFill>
                <a:latin typeface="Arial MT"/>
                <a:cs typeface="Arial MT"/>
              </a:rPr>
              <a:t>	</a:t>
            </a:r>
            <a:r>
              <a:rPr sz="2700" spc="-105" dirty="0">
                <a:solidFill>
                  <a:srgbClr val="626262"/>
                </a:solidFill>
                <a:latin typeface="Arial MT"/>
                <a:cs typeface="Arial MT"/>
              </a:rPr>
              <a:t>:</a:t>
            </a:r>
            <a:r>
              <a:rPr sz="2700" spc="-20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2700" spc="-130" dirty="0">
                <a:latin typeface="Arial MT"/>
                <a:cs typeface="Arial MT"/>
              </a:rPr>
              <a:t>I-</a:t>
            </a:r>
            <a:r>
              <a:rPr sz="2700" spc="-204" dirty="0">
                <a:latin typeface="Arial MT"/>
                <a:cs typeface="Arial MT"/>
              </a:rPr>
              <a:t>fow</a:t>
            </a:r>
            <a:r>
              <a:rPr sz="2700" spc="-180" dirty="0">
                <a:latin typeface="Arial MT"/>
                <a:cs typeface="Arial MT"/>
              </a:rPr>
              <a:t> </a:t>
            </a:r>
            <a:r>
              <a:rPr sz="2700" i="1" spc="-285" dirty="0">
                <a:latin typeface="Arial"/>
                <a:cs typeface="Arial"/>
              </a:rPr>
              <a:t>close</a:t>
            </a:r>
            <a:r>
              <a:rPr sz="2700" i="1" spc="-25" dirty="0">
                <a:latin typeface="Arial"/>
                <a:cs typeface="Arial"/>
              </a:rPr>
              <a:t> </a:t>
            </a:r>
            <a:r>
              <a:rPr sz="2700" i="1" spc="-220" dirty="0">
                <a:latin typeface="Arial"/>
                <a:cs typeface="Arial"/>
              </a:rPr>
              <a:t>are</a:t>
            </a:r>
            <a:r>
              <a:rPr sz="2700" i="1" spc="-320" dirty="0">
                <a:latin typeface="Arial"/>
                <a:cs typeface="Arial"/>
              </a:rPr>
              <a:t> </a:t>
            </a:r>
            <a:r>
              <a:rPr sz="2700" i="1" spc="-195" dirty="0">
                <a:latin typeface="Arial"/>
                <a:cs typeface="Arial"/>
              </a:rPr>
              <a:t>we</a:t>
            </a:r>
            <a:r>
              <a:rPr sz="2700" i="1" spc="-155" dirty="0">
                <a:latin typeface="Arial"/>
                <a:cs typeface="Arial"/>
              </a:rPr>
              <a:t> </a:t>
            </a:r>
            <a:r>
              <a:rPr sz="2700" i="1" spc="-80" dirty="0">
                <a:latin typeface="Arial"/>
                <a:cs typeface="Arial"/>
              </a:rPr>
              <a:t>to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30380" y="4372327"/>
            <a:ext cx="4236085" cy="433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0"/>
              </a:spcBef>
            </a:pPr>
            <a:r>
              <a:rPr sz="2200" spc="55" dirty="0">
                <a:latin typeface="Arial MT"/>
                <a:cs typeface="Arial MT"/>
              </a:rPr>
              <a:t>Measure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spc="85" dirty="0">
                <a:latin typeface="Arial MT"/>
                <a:cs typeface="Arial MT"/>
              </a:rPr>
              <a:t>Name:</a:t>
            </a:r>
            <a:endParaRPr sz="2200">
              <a:latin typeface="Arial MT"/>
              <a:cs typeface="Arial MT"/>
            </a:endParaRPr>
          </a:p>
          <a:p>
            <a:pPr marL="15875" marR="1422400" indent="8255">
              <a:lnSpc>
                <a:spcPts val="3050"/>
              </a:lnSpc>
              <a:spcBef>
                <a:spcPts val="170"/>
              </a:spcBef>
            </a:pPr>
            <a:r>
              <a:rPr sz="2600" spc="125" dirty="0">
                <a:solidFill>
                  <a:srgbClr val="031831"/>
                </a:solidFill>
                <a:latin typeface="Arial MT"/>
                <a:cs typeface="Arial MT"/>
              </a:rPr>
              <a:t>Time-</a:t>
            </a:r>
            <a:r>
              <a:rPr sz="2600" spc="90" dirty="0">
                <a:solidFill>
                  <a:srgbClr val="031831"/>
                </a:solidFill>
                <a:latin typeface="Arial MT"/>
                <a:cs typeface="Arial MT"/>
              </a:rPr>
              <a:t>Intelligence </a:t>
            </a:r>
            <a:r>
              <a:rPr sz="2600" spc="60" dirty="0">
                <a:solidFill>
                  <a:srgbClr val="05162D"/>
                </a:solidFill>
                <a:latin typeface="Arial MT"/>
                <a:cs typeface="Arial MT"/>
              </a:rPr>
              <a:t>Calculations</a:t>
            </a:r>
            <a:endParaRPr sz="2600">
              <a:latin typeface="Arial MT"/>
              <a:cs typeface="Arial MT"/>
            </a:endParaRPr>
          </a:p>
          <a:p>
            <a:pPr marL="13335">
              <a:lnSpc>
                <a:spcPts val="3010"/>
              </a:lnSpc>
              <a:spcBef>
                <a:spcPts val="2190"/>
              </a:spcBef>
            </a:pPr>
            <a:r>
              <a:rPr sz="2600" spc="-10" dirty="0">
                <a:latin typeface="Cambria"/>
                <a:cs typeface="Cambria"/>
              </a:rPr>
              <a:t>Description:</a:t>
            </a:r>
            <a:endParaRPr sz="2600">
              <a:latin typeface="Cambria"/>
              <a:cs typeface="Cambria"/>
            </a:endParaRPr>
          </a:p>
          <a:p>
            <a:pPr marL="12700" marR="5080">
              <a:lnSpc>
                <a:spcPct val="90800"/>
              </a:lnSpc>
              <a:spcBef>
                <a:spcPts val="180"/>
              </a:spcBef>
            </a:pPr>
            <a:r>
              <a:rPr sz="2600" spc="-50" dirty="0">
                <a:latin typeface="Cambria"/>
                <a:cs typeface="Cambria"/>
              </a:rPr>
              <a:t>Enabled</a:t>
            </a:r>
            <a:r>
              <a:rPr sz="2600" spc="-80" dirty="0">
                <a:latin typeface="Cambria"/>
                <a:cs typeface="Cambria"/>
              </a:rPr>
              <a:t> powerful</a:t>
            </a:r>
            <a:r>
              <a:rPr sz="2600" spc="35" dirty="0">
                <a:latin typeface="Cambria"/>
                <a:cs typeface="Cambria"/>
              </a:rPr>
              <a:t> </a:t>
            </a:r>
            <a:r>
              <a:rPr sz="2600" spc="-105" dirty="0">
                <a:latin typeface="Cambria"/>
                <a:cs typeface="Cambria"/>
              </a:rPr>
              <a:t>period-</a:t>
            </a:r>
            <a:r>
              <a:rPr sz="2600" spc="-10" dirty="0">
                <a:latin typeface="Cambria"/>
                <a:cs typeface="Cambria"/>
              </a:rPr>
              <a:t>over- </a:t>
            </a:r>
            <a:r>
              <a:rPr sz="2550" spc="-55" dirty="0">
                <a:latin typeface="Cambria"/>
                <a:cs typeface="Cambria"/>
              </a:rPr>
              <a:t>period</a:t>
            </a:r>
            <a:r>
              <a:rPr sz="2550" spc="-30" dirty="0">
                <a:latin typeface="Cambria"/>
                <a:cs typeface="Cambria"/>
              </a:rPr>
              <a:t> </a:t>
            </a:r>
            <a:r>
              <a:rPr sz="2550" spc="-40" dirty="0">
                <a:latin typeface="Cambria"/>
                <a:cs typeface="Cambria"/>
              </a:rPr>
              <a:t>comparisons</a:t>
            </a:r>
            <a:r>
              <a:rPr sz="2550" spc="-1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(e.g.,</a:t>
            </a:r>
            <a:r>
              <a:rPr sz="2550" spc="-35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Same </a:t>
            </a:r>
            <a:r>
              <a:rPr sz="2700" spc="-130" dirty="0">
                <a:latin typeface="Cambria"/>
                <a:cs typeface="Cambria"/>
              </a:rPr>
              <a:t>Period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35" dirty="0">
                <a:latin typeface="Cambria"/>
                <a:cs typeface="Cambria"/>
              </a:rPr>
              <a:t>Last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Year).</a:t>
            </a:r>
            <a:endParaRPr sz="2700">
              <a:latin typeface="Cambria"/>
              <a:cs typeface="Cambria"/>
            </a:endParaRPr>
          </a:p>
          <a:p>
            <a:pPr marL="33655">
              <a:lnSpc>
                <a:spcPts val="2880"/>
              </a:lnSpc>
              <a:spcBef>
                <a:spcPts val="2110"/>
              </a:spcBef>
            </a:pPr>
            <a:r>
              <a:rPr sz="2550" dirty="0">
                <a:solidFill>
                  <a:srgbClr val="6B6B6B"/>
                </a:solidFill>
                <a:latin typeface="Times New Roman"/>
                <a:cs typeface="Times New Roman"/>
              </a:rPr>
              <a:t>business</a:t>
            </a:r>
            <a:r>
              <a:rPr sz="2550" spc="90" dirty="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sz="2550" i="1" spc="-10" dirty="0">
                <a:solidFill>
                  <a:srgbClr val="626262"/>
                </a:solidFill>
                <a:latin typeface="Times New Roman"/>
                <a:cs typeface="Times New Roman"/>
              </a:rPr>
              <a:t>Question</a:t>
            </a:r>
            <a:endParaRPr sz="2550">
              <a:latin typeface="Times New Roman"/>
              <a:cs typeface="Times New Roman"/>
            </a:endParaRPr>
          </a:p>
          <a:p>
            <a:pPr marL="27940">
              <a:lnSpc>
                <a:spcPts val="2845"/>
              </a:lnSpc>
            </a:pPr>
            <a:r>
              <a:rPr sz="2750" i="1" spc="-100" dirty="0">
                <a:latin typeface="Times New Roman"/>
                <a:cs typeface="Times New Roman"/>
              </a:rPr>
              <a:t>Essential</a:t>
            </a:r>
            <a:r>
              <a:rPr sz="2750" i="1" spc="-50" dirty="0">
                <a:latin typeface="Times New Roman"/>
                <a:cs typeface="Times New Roman"/>
              </a:rPr>
              <a:t> </a:t>
            </a:r>
            <a:r>
              <a:rPr sz="2750" i="1" spc="-105" dirty="0">
                <a:latin typeface="Times New Roman"/>
                <a:cs typeface="Times New Roman"/>
              </a:rPr>
              <a:t>for</a:t>
            </a:r>
            <a:r>
              <a:rPr sz="2750" i="1" spc="-200" dirty="0">
                <a:latin typeface="Times New Roman"/>
                <a:cs typeface="Times New Roman"/>
              </a:rPr>
              <a:t> </a:t>
            </a:r>
            <a:r>
              <a:rPr sz="2750" i="1" spc="-10" dirty="0">
                <a:latin typeface="Times New Roman"/>
                <a:cs typeface="Times New Roman"/>
              </a:rPr>
              <a:t>contextualizing</a:t>
            </a:r>
            <a:endParaRPr sz="2750">
              <a:latin typeface="Times New Roman"/>
              <a:cs typeface="Times New Roman"/>
            </a:endParaRPr>
          </a:p>
          <a:p>
            <a:pPr marL="30480">
              <a:lnSpc>
                <a:spcPts val="3204"/>
              </a:lnSpc>
            </a:pPr>
            <a:r>
              <a:rPr sz="2900" i="1" spc="-10" dirty="0">
                <a:latin typeface="Times New Roman"/>
                <a:cs typeface="Times New Roman"/>
              </a:rPr>
              <a:t>trends.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32300" y="1574800"/>
            <a:ext cx="8699500" cy="6731000"/>
            <a:chOff x="4432300" y="1574800"/>
            <a:chExt cx="8699500" cy="6731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2300" y="1574800"/>
              <a:ext cx="8699500" cy="6731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4102100"/>
              <a:ext cx="241300" cy="203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1600" y="4584700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1400" y="4902200"/>
              <a:ext cx="635000" cy="533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1300" y="4267200"/>
              <a:ext cx="1130300" cy="393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9700" y="4597400"/>
              <a:ext cx="812800" cy="8255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35977" y="372533"/>
            <a:ext cx="14168755" cy="139204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spcBef>
                <a:spcPts val="114"/>
              </a:spcBef>
            </a:pPr>
            <a:r>
              <a:rPr lang="en-US" sz="4800" b="1" dirty="0"/>
              <a:t>The Dashboard</a:t>
            </a:r>
            <a:r>
              <a:rPr sz="4150" dirty="0">
                <a:solidFill>
                  <a:srgbClr val="112F50"/>
                </a:solidFill>
              </a:rPr>
              <a:t>:</a:t>
            </a:r>
            <a:r>
              <a:rPr sz="4150" spc="-220" dirty="0">
                <a:solidFill>
                  <a:srgbClr val="112F50"/>
                </a:solidFill>
              </a:rPr>
              <a:t> </a:t>
            </a:r>
            <a:r>
              <a:rPr lang="en-US" sz="4400" dirty="0">
                <a:highlight>
                  <a:srgbClr val="808080"/>
                </a:highlight>
              </a:rPr>
              <a:t>Visualizing the Recovery Journey</a:t>
            </a:r>
            <a:br>
              <a:rPr lang="en-US" sz="4400" dirty="0"/>
            </a:br>
            <a:endParaRPr sz="4150" dirty="0"/>
          </a:p>
        </p:txBody>
      </p:sp>
      <p:sp>
        <p:nvSpPr>
          <p:cNvPr id="10" name="object 10"/>
          <p:cNvSpPr txBox="1"/>
          <p:nvPr/>
        </p:nvSpPr>
        <p:spPr>
          <a:xfrm>
            <a:off x="900836" y="2011186"/>
            <a:ext cx="3040380" cy="1210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 algn="just">
              <a:lnSpc>
                <a:spcPts val="2325"/>
              </a:lnSpc>
              <a:spcBef>
                <a:spcPts val="110"/>
              </a:spcBef>
            </a:pPr>
            <a:r>
              <a:rPr sz="2000" dirty="0">
                <a:solidFill>
                  <a:srgbClr val="131313"/>
                </a:solidFill>
                <a:latin typeface="Cambria"/>
                <a:cs typeface="Cambria"/>
              </a:rPr>
              <a:t>At-a-Glance</a:t>
            </a:r>
            <a:r>
              <a:rPr sz="2000" spc="75" dirty="0">
                <a:solidFill>
                  <a:srgbClr val="131313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161616"/>
                </a:solidFill>
                <a:latin typeface="Cambria"/>
                <a:cs typeface="Cambria"/>
              </a:rPr>
              <a:t>KPls:</a:t>
            </a:r>
            <a:endParaRPr sz="2000">
              <a:latin typeface="Cambria"/>
              <a:cs typeface="Cambria"/>
            </a:endParaRPr>
          </a:p>
          <a:p>
            <a:pPr marL="12700" marR="5080" indent="10160" algn="just">
              <a:lnSpc>
                <a:spcPts val="2300"/>
              </a:lnSpc>
              <a:spcBef>
                <a:spcPts val="135"/>
              </a:spcBef>
            </a:pPr>
            <a:r>
              <a:rPr sz="2050" spc="-40" dirty="0">
                <a:latin typeface="Cambria"/>
                <a:cs typeface="Cambria"/>
              </a:rPr>
              <a:t>High-</a:t>
            </a:r>
            <a:r>
              <a:rPr sz="2050" dirty="0">
                <a:latin typeface="Cambria"/>
                <a:cs typeface="Cambria"/>
              </a:rPr>
              <a:t>level</a:t>
            </a:r>
            <a:r>
              <a:rPr sz="2050" spc="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cards</a:t>
            </a:r>
            <a:r>
              <a:rPr sz="2050" spc="-45" dirty="0">
                <a:latin typeface="Cambria"/>
                <a:cs typeface="Cambria"/>
              </a:rPr>
              <a:t> </a:t>
            </a:r>
            <a:r>
              <a:rPr sz="2050" spc="-40" dirty="0">
                <a:latin typeface="Cambria"/>
                <a:cs typeface="Cambria"/>
              </a:rPr>
              <a:t>provide</a:t>
            </a:r>
            <a:r>
              <a:rPr sz="2050" spc="-25" dirty="0">
                <a:latin typeface="Cambria"/>
                <a:cs typeface="Cambria"/>
              </a:rPr>
              <a:t> an </a:t>
            </a:r>
            <a:r>
              <a:rPr sz="2050" spc="-10" dirty="0">
                <a:latin typeface="Cambria"/>
                <a:cs typeface="Cambria"/>
              </a:rPr>
              <a:t>immediate</a:t>
            </a:r>
            <a:r>
              <a:rPr sz="2050" spc="4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summary</a:t>
            </a:r>
            <a:r>
              <a:rPr sz="2050" dirty="0">
                <a:latin typeface="Cambria"/>
                <a:cs typeface="Cambria"/>
              </a:rPr>
              <a:t> of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the </a:t>
            </a:r>
            <a:r>
              <a:rPr sz="2050" spc="-10" dirty="0">
                <a:latin typeface="Cambria"/>
                <a:cs typeface="Cambria"/>
              </a:rPr>
              <a:t>current</a:t>
            </a:r>
            <a:r>
              <a:rPr sz="2050" spc="30" dirty="0">
                <a:latin typeface="Cambria"/>
                <a:cs typeface="Cambria"/>
              </a:rPr>
              <a:t> </a:t>
            </a:r>
            <a:r>
              <a:rPr sz="2050" spc="-45" dirty="0">
                <a:latin typeface="Cambria"/>
                <a:cs typeface="Cambria"/>
              </a:rPr>
              <a:t>recovery </a:t>
            </a:r>
            <a:r>
              <a:rPr sz="2050" spc="-10" dirty="0">
                <a:latin typeface="Cambria"/>
                <a:cs typeface="Cambria"/>
              </a:rPr>
              <a:t>status.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983" y="6580716"/>
            <a:ext cx="4707890" cy="26771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5875" marR="175260" indent="-1905">
              <a:lnSpc>
                <a:spcPct val="93000"/>
              </a:lnSpc>
              <a:spcBef>
                <a:spcPts val="305"/>
              </a:spcBef>
            </a:pPr>
            <a:r>
              <a:rPr sz="2050" dirty="0">
                <a:solidFill>
                  <a:srgbClr val="0F0F0F"/>
                </a:solidFill>
                <a:latin typeface="Cambria"/>
                <a:cs typeface="Cambria"/>
              </a:rPr>
              <a:t>Z</a:t>
            </a:r>
            <a:r>
              <a:rPr sz="2050" spc="204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2050" dirty="0">
                <a:solidFill>
                  <a:srgbClr val="0F0F0F"/>
                </a:solidFill>
                <a:latin typeface="Cambria"/>
                <a:cs typeface="Cambria"/>
              </a:rPr>
              <a:t>Pattern</a:t>
            </a:r>
            <a:r>
              <a:rPr sz="2050" spc="9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Layout: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6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design</a:t>
            </a:r>
            <a:r>
              <a:rPr sz="2050" spc="35" dirty="0">
                <a:latin typeface="Cambria"/>
                <a:cs typeface="Cambria"/>
              </a:rPr>
              <a:t> </a:t>
            </a:r>
            <a:r>
              <a:rPr sz="2050" spc="-20" dirty="0">
                <a:latin typeface="Cambria"/>
                <a:cs typeface="Cambria"/>
              </a:rPr>
              <a:t>follows</a:t>
            </a:r>
            <a:r>
              <a:rPr sz="2050" spc="45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the </a:t>
            </a:r>
            <a:r>
              <a:rPr sz="2050" spc="-30" dirty="0">
                <a:latin typeface="Cambria"/>
                <a:cs typeface="Cambria"/>
              </a:rPr>
              <a:t>natural</a:t>
            </a:r>
            <a:r>
              <a:rPr sz="2050" spc="95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path</a:t>
            </a:r>
            <a:r>
              <a:rPr sz="2050" spc="-4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of</a:t>
            </a:r>
            <a:r>
              <a:rPr sz="2050" spc="-4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the</a:t>
            </a:r>
            <a:r>
              <a:rPr sz="2050" spc="-5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human</a:t>
            </a:r>
            <a:r>
              <a:rPr sz="2050" spc="-3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eye,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placing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50" dirty="0">
                <a:latin typeface="Cambria"/>
                <a:cs typeface="Cambria"/>
              </a:rPr>
              <a:t> </a:t>
            </a:r>
            <a:r>
              <a:rPr sz="2050" spc="-35" dirty="0">
                <a:latin typeface="Cambria"/>
                <a:cs typeface="Cambria"/>
              </a:rPr>
              <a:t>most</a:t>
            </a:r>
            <a:r>
              <a:rPr sz="2050" spc="50" dirty="0">
                <a:latin typeface="Cambria"/>
                <a:cs typeface="Cambria"/>
              </a:rPr>
              <a:t> </a:t>
            </a:r>
            <a:r>
              <a:rPr sz="2050" spc="-30" dirty="0">
                <a:latin typeface="Cambria"/>
                <a:cs typeface="Cambria"/>
              </a:rPr>
              <a:t>important</a:t>
            </a:r>
            <a:r>
              <a:rPr sz="2050" spc="18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KPIs</a:t>
            </a:r>
            <a:r>
              <a:rPr sz="2050" spc="-7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in</a:t>
            </a:r>
            <a:r>
              <a:rPr sz="2050" spc="-2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20" dirty="0">
                <a:latin typeface="Cambria"/>
                <a:cs typeface="Cambria"/>
              </a:rPr>
              <a:t> </a:t>
            </a:r>
            <a:r>
              <a:rPr sz="2050" spc="-55" dirty="0">
                <a:latin typeface="Cambria"/>
                <a:cs typeface="Cambria"/>
              </a:rPr>
              <a:t>top-</a:t>
            </a:r>
            <a:r>
              <a:rPr sz="2050" spc="-20" dirty="0">
                <a:latin typeface="Cambria"/>
                <a:cs typeface="Cambria"/>
              </a:rPr>
              <a:t>left </a:t>
            </a:r>
            <a:r>
              <a:rPr sz="2050" dirty="0">
                <a:latin typeface="Cambria"/>
                <a:cs typeface="Cambria"/>
              </a:rPr>
              <a:t>and</a:t>
            </a:r>
            <a:r>
              <a:rPr sz="2050" spc="-114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guiding</a:t>
            </a:r>
            <a:r>
              <a:rPr sz="2050" spc="-5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user</a:t>
            </a:r>
            <a:r>
              <a:rPr sz="2050" spc="35" dirty="0">
                <a:latin typeface="Cambria"/>
                <a:cs typeface="Cambria"/>
              </a:rPr>
              <a:t> </a:t>
            </a:r>
            <a:r>
              <a:rPr sz="2050" spc="-40" dirty="0">
                <a:latin typeface="Cambria"/>
                <a:cs typeface="Cambria"/>
              </a:rPr>
              <a:t>through</a:t>
            </a:r>
            <a:r>
              <a:rPr sz="2050" spc="55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the </a:t>
            </a:r>
            <a:r>
              <a:rPr sz="2050" spc="-10" dirty="0">
                <a:latin typeface="Cambria"/>
                <a:cs typeface="Cambria"/>
              </a:rPr>
              <a:t>narrative.</a:t>
            </a:r>
            <a:endParaRPr sz="2050">
              <a:latin typeface="Cambria"/>
              <a:cs typeface="Cambria"/>
            </a:endParaRPr>
          </a:p>
          <a:p>
            <a:pPr marL="12700" marR="5080" indent="10795">
              <a:lnSpc>
                <a:spcPts val="2300"/>
              </a:lnSpc>
              <a:spcBef>
                <a:spcPts val="2350"/>
              </a:spcBef>
            </a:pPr>
            <a:r>
              <a:rPr sz="2050" dirty="0">
                <a:solidFill>
                  <a:srgbClr val="111111"/>
                </a:solidFill>
                <a:latin typeface="Cambria"/>
                <a:cs typeface="Cambria"/>
              </a:rPr>
              <a:t>Professional</a:t>
            </a:r>
            <a:r>
              <a:rPr sz="2050" spc="2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2050" dirty="0">
                <a:solidFill>
                  <a:srgbClr val="080808"/>
                </a:solidFill>
                <a:latin typeface="Cambria"/>
                <a:cs typeface="Cambria"/>
              </a:rPr>
              <a:t>Palette:</a:t>
            </a:r>
            <a:r>
              <a:rPr sz="2050" spc="90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A</a:t>
            </a:r>
            <a:r>
              <a:rPr sz="2050" spc="5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clean,</a:t>
            </a:r>
            <a:r>
              <a:rPr sz="2050" spc="85" dirty="0">
                <a:latin typeface="Cambria"/>
                <a:cs typeface="Cambria"/>
              </a:rPr>
              <a:t> </a:t>
            </a:r>
            <a:r>
              <a:rPr sz="2050" spc="-20" dirty="0">
                <a:latin typeface="Cambria"/>
                <a:cs typeface="Cambria"/>
              </a:rPr>
              <a:t>professional </a:t>
            </a:r>
            <a:r>
              <a:rPr sz="2150" spc="-45" dirty="0">
                <a:latin typeface="Cambria"/>
                <a:cs typeface="Cambria"/>
              </a:rPr>
              <a:t>color</a:t>
            </a:r>
            <a:r>
              <a:rPr sz="2150" spc="-30" dirty="0">
                <a:latin typeface="Cambria"/>
                <a:cs typeface="Cambria"/>
              </a:rPr>
              <a:t> </a:t>
            </a:r>
            <a:r>
              <a:rPr sz="2150" spc="-75" dirty="0">
                <a:latin typeface="Cambria"/>
                <a:cs typeface="Cambria"/>
              </a:rPr>
              <a:t>scheme</a:t>
            </a:r>
            <a:r>
              <a:rPr sz="2150" spc="-45" dirty="0">
                <a:latin typeface="Cambria"/>
                <a:cs typeface="Cambria"/>
              </a:rPr>
              <a:t> </a:t>
            </a:r>
            <a:r>
              <a:rPr sz="2150" spc="-85" dirty="0">
                <a:latin typeface="Cambria"/>
                <a:cs typeface="Cambria"/>
              </a:rPr>
              <a:t>ensures</a:t>
            </a:r>
            <a:r>
              <a:rPr sz="2150" spc="-35" dirty="0">
                <a:latin typeface="Cambria"/>
                <a:cs typeface="Cambria"/>
              </a:rPr>
              <a:t> </a:t>
            </a:r>
            <a:r>
              <a:rPr sz="2150" spc="-70" dirty="0">
                <a:latin typeface="Cambria"/>
                <a:cs typeface="Cambria"/>
              </a:rPr>
              <a:t>readability</a:t>
            </a:r>
            <a:r>
              <a:rPr sz="2150" spc="9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and </a:t>
            </a:r>
            <a:r>
              <a:rPr sz="2200" spc="-95" dirty="0">
                <a:latin typeface="Cambria"/>
                <a:cs typeface="Cambria"/>
              </a:rPr>
              <a:t>focuses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attention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110" dirty="0">
                <a:latin typeface="Cambria"/>
                <a:cs typeface="Cambria"/>
              </a:rPr>
              <a:t>the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80123" y="2916766"/>
            <a:ext cx="3024505" cy="18072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321310" indent="1905">
              <a:lnSpc>
                <a:spcPts val="2300"/>
              </a:lnSpc>
              <a:spcBef>
                <a:spcPts val="340"/>
              </a:spcBef>
            </a:pPr>
            <a:r>
              <a:rPr sz="2050" spc="-35" dirty="0">
                <a:solidFill>
                  <a:srgbClr val="181818"/>
                </a:solidFill>
                <a:latin typeface="Cambria"/>
                <a:cs typeface="Cambria"/>
              </a:rPr>
              <a:t>Trend</a:t>
            </a:r>
            <a:r>
              <a:rPr sz="2050" spc="-2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2050" spc="-10" dirty="0">
                <a:solidFill>
                  <a:srgbClr val="131313"/>
                </a:solidFill>
                <a:latin typeface="Cambria"/>
                <a:cs typeface="Cambria"/>
              </a:rPr>
              <a:t>Visualization: </a:t>
            </a:r>
            <a:r>
              <a:rPr sz="2200" spc="-80" dirty="0">
                <a:latin typeface="Times New Roman"/>
                <a:cs typeface="Times New Roman"/>
              </a:rPr>
              <a:t>Line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area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charts </a:t>
            </a:r>
            <a:r>
              <a:rPr sz="2200" spc="-55" dirty="0">
                <a:latin typeface="Times New Roman"/>
                <a:cs typeface="Times New Roman"/>
              </a:rPr>
              <a:t>effectively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communicate</a:t>
            </a:r>
            <a:endParaRPr sz="2200">
              <a:latin typeface="Times New Roman"/>
              <a:cs typeface="Times New Roman"/>
            </a:endParaRPr>
          </a:p>
          <a:p>
            <a:pPr marL="13335" marR="5080" indent="10160">
              <a:lnSpc>
                <a:spcPts val="2300"/>
              </a:lnSpc>
            </a:pPr>
            <a:r>
              <a:rPr sz="2200" spc="-10" dirty="0">
                <a:latin typeface="Times New Roman"/>
                <a:cs typeface="Times New Roman"/>
              </a:rPr>
              <a:t>performance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over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compare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recovery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across </a:t>
            </a:r>
            <a:r>
              <a:rPr sz="2200" spc="-20" dirty="0">
                <a:latin typeface="Times New Roman"/>
                <a:cs typeface="Times New Roman"/>
              </a:rPr>
              <a:t>different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0900" y="7099300"/>
            <a:ext cx="1841500" cy="218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3300" y="6223000"/>
            <a:ext cx="1460500" cy="12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8600" y="4648200"/>
            <a:ext cx="3022600" cy="1511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6600" y="1790700"/>
            <a:ext cx="1803400" cy="2209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76154" y="347486"/>
            <a:ext cx="9702800" cy="20608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1116965" algn="l"/>
              </a:tabLst>
            </a:pPr>
            <a:r>
              <a:rPr lang="en-US" sz="4800" b="1" dirty="0"/>
              <a:t>Insights &amp; Findings</a:t>
            </a:r>
            <a:r>
              <a:rPr sz="4500" spc="285" dirty="0">
                <a:solidFill>
                  <a:srgbClr val="132D44"/>
                </a:solidFill>
                <a:latin typeface="Calibri"/>
                <a:cs typeface="Calibri"/>
              </a:rPr>
              <a:t>:</a:t>
            </a:r>
            <a:r>
              <a:rPr lang="en-US" sz="4000" dirty="0">
                <a:highlight>
                  <a:srgbClr val="808080"/>
                </a:highlight>
              </a:rPr>
              <a:t>What the Data Revealed</a:t>
            </a:r>
            <a:br>
              <a:rPr lang="en-US" sz="4800" dirty="0"/>
            </a:br>
            <a:endParaRPr sz="45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9568" y="1955447"/>
            <a:ext cx="10347325" cy="723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ts val="3940"/>
              </a:lnSpc>
              <a:spcBef>
                <a:spcPts val="100"/>
              </a:spcBef>
            </a:pPr>
            <a:r>
              <a:rPr sz="3400" dirty="0">
                <a:solidFill>
                  <a:srgbClr val="051624"/>
                </a:solidFill>
                <a:latin typeface="Cambria"/>
                <a:cs typeface="Cambria"/>
              </a:rPr>
              <a:t>Subways</a:t>
            </a:r>
            <a:r>
              <a:rPr sz="3400" spc="-50" dirty="0">
                <a:solidFill>
                  <a:srgbClr val="051624"/>
                </a:solidFill>
                <a:latin typeface="Cambria"/>
                <a:cs typeface="Cambria"/>
              </a:rPr>
              <a:t> </a:t>
            </a:r>
            <a:r>
              <a:rPr sz="3400" spc="-55" dirty="0">
                <a:solidFill>
                  <a:srgbClr val="132A3F"/>
                </a:solidFill>
                <a:latin typeface="Cambria"/>
                <a:cs typeface="Cambria"/>
              </a:rPr>
              <a:t>Drive</a:t>
            </a:r>
            <a:r>
              <a:rPr sz="3400" spc="-135" dirty="0">
                <a:solidFill>
                  <a:srgbClr val="132A3F"/>
                </a:solidFill>
                <a:latin typeface="Cambria"/>
                <a:cs typeface="Cambria"/>
              </a:rPr>
              <a:t> </a:t>
            </a:r>
            <a:r>
              <a:rPr sz="3400" spc="-10" dirty="0">
                <a:solidFill>
                  <a:srgbClr val="161616"/>
                </a:solidFill>
                <a:latin typeface="Cambria"/>
                <a:cs typeface="Cambria"/>
              </a:rPr>
              <a:t>Volume:</a:t>
            </a:r>
            <a:endParaRPr sz="3400" dirty="0">
              <a:latin typeface="Cambria"/>
              <a:cs typeface="Cambria"/>
            </a:endParaRPr>
          </a:p>
          <a:p>
            <a:pPr marL="16510" marR="5080" indent="1905">
              <a:lnSpc>
                <a:spcPct val="94600"/>
              </a:lnSpc>
              <a:spcBef>
                <a:spcPts val="50"/>
              </a:spcBef>
            </a:pPr>
            <a:r>
              <a:rPr sz="2950" spc="-55" dirty="0">
                <a:latin typeface="Cambria"/>
                <a:cs typeface="Cambria"/>
              </a:rPr>
              <a:t>Despite</a:t>
            </a:r>
            <a:r>
              <a:rPr sz="2950" spc="-110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varying</a:t>
            </a:r>
            <a:r>
              <a:rPr sz="2950" spc="-40" dirty="0">
                <a:latin typeface="Cambria"/>
                <a:cs typeface="Cambria"/>
              </a:rPr>
              <a:t> </a:t>
            </a:r>
            <a:r>
              <a:rPr sz="2950" spc="-114" dirty="0">
                <a:latin typeface="Cambria"/>
                <a:cs typeface="Cambria"/>
              </a:rPr>
              <a:t>recovery</a:t>
            </a:r>
            <a:r>
              <a:rPr sz="2950" spc="25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rates,</a:t>
            </a:r>
            <a:r>
              <a:rPr sz="2950" spc="-95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subways</a:t>
            </a:r>
            <a:r>
              <a:rPr sz="2950" spc="-35" dirty="0">
                <a:latin typeface="Cambria"/>
                <a:cs typeface="Cambria"/>
              </a:rPr>
              <a:t> </a:t>
            </a:r>
            <a:r>
              <a:rPr sz="2950" spc="-75" dirty="0">
                <a:latin typeface="Cambria"/>
                <a:cs typeface="Cambria"/>
              </a:rPr>
              <a:t>consistently</a:t>
            </a:r>
            <a:r>
              <a:rPr sz="2950" spc="25" dirty="0">
                <a:latin typeface="Cambria"/>
                <a:cs typeface="Cambria"/>
              </a:rPr>
              <a:t> </a:t>
            </a:r>
            <a:r>
              <a:rPr sz="2950" spc="-85" dirty="0">
                <a:latin typeface="Cambria"/>
                <a:cs typeface="Cambria"/>
              </a:rPr>
              <a:t>account</a:t>
            </a:r>
            <a:r>
              <a:rPr sz="2950" spc="-3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for</a:t>
            </a:r>
            <a:r>
              <a:rPr sz="2950" spc="-150" dirty="0">
                <a:latin typeface="Cambria"/>
                <a:cs typeface="Cambria"/>
              </a:rPr>
              <a:t> </a:t>
            </a:r>
            <a:r>
              <a:rPr sz="2950" spc="-25" dirty="0">
                <a:latin typeface="Cambria"/>
                <a:cs typeface="Cambria"/>
              </a:rPr>
              <a:t>the </a:t>
            </a:r>
            <a:r>
              <a:rPr sz="2950" spc="-60" dirty="0">
                <a:latin typeface="Cambria"/>
                <a:cs typeface="Cambria"/>
              </a:rPr>
              <a:t>highest</a:t>
            </a:r>
            <a:r>
              <a:rPr sz="2950" spc="-80" dirty="0">
                <a:latin typeface="Cambria"/>
                <a:cs typeface="Cambria"/>
              </a:rPr>
              <a:t> </a:t>
            </a:r>
            <a:r>
              <a:rPr sz="2950" spc="-85" dirty="0">
                <a:latin typeface="Cambria"/>
                <a:cs typeface="Cambria"/>
              </a:rPr>
              <a:t>absolute</a:t>
            </a:r>
            <a:r>
              <a:rPr sz="2950" spc="-30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ridership, </a:t>
            </a:r>
            <a:r>
              <a:rPr sz="2950" spc="-60" dirty="0">
                <a:latin typeface="Cambria"/>
                <a:cs typeface="Cambria"/>
              </a:rPr>
              <a:t>affirming</a:t>
            </a:r>
            <a:r>
              <a:rPr sz="2950" spc="-5" dirty="0">
                <a:latin typeface="Cambria"/>
                <a:cs typeface="Cambria"/>
              </a:rPr>
              <a:t> </a:t>
            </a:r>
            <a:r>
              <a:rPr sz="2950" spc="-60" dirty="0">
                <a:latin typeface="Cambria"/>
                <a:cs typeface="Cambria"/>
              </a:rPr>
              <a:t>their</a:t>
            </a:r>
            <a:r>
              <a:rPr sz="2950" spc="-75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central</a:t>
            </a:r>
            <a:r>
              <a:rPr sz="2950" spc="65" dirty="0">
                <a:latin typeface="Cambria"/>
                <a:cs typeface="Cambria"/>
              </a:rPr>
              <a:t> </a:t>
            </a:r>
            <a:r>
              <a:rPr sz="2950" spc="-110" dirty="0">
                <a:latin typeface="Cambria"/>
                <a:cs typeface="Cambria"/>
              </a:rPr>
              <a:t>role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in</a:t>
            </a:r>
            <a:r>
              <a:rPr sz="2950" spc="-95" dirty="0">
                <a:latin typeface="Cambria"/>
                <a:cs typeface="Cambria"/>
              </a:rPr>
              <a:t> </a:t>
            </a:r>
            <a:r>
              <a:rPr sz="2950" spc="-65" dirty="0">
                <a:latin typeface="Cambria"/>
                <a:cs typeface="Cambria"/>
              </a:rPr>
              <a:t>the</a:t>
            </a:r>
            <a:r>
              <a:rPr sz="2950" spc="-155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city's </a:t>
            </a:r>
            <a:r>
              <a:rPr sz="2950" spc="-70" dirty="0">
                <a:latin typeface="Cambria"/>
                <a:cs typeface="Cambria"/>
              </a:rPr>
              <a:t>transit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ecosystem.</a:t>
            </a:r>
            <a:endParaRPr sz="29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9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950" dirty="0">
              <a:latin typeface="Cambria"/>
              <a:cs typeface="Cambria"/>
            </a:endParaRPr>
          </a:p>
          <a:p>
            <a:pPr marL="24130">
              <a:lnSpc>
                <a:spcPts val="3579"/>
              </a:lnSpc>
              <a:tabLst>
                <a:tab pos="3116580" algn="l"/>
                <a:tab pos="5161280" algn="l"/>
              </a:tabLst>
            </a:pPr>
            <a:r>
              <a:rPr sz="3050" spc="75" dirty="0">
                <a:solidFill>
                  <a:srgbClr val="1F1F1F"/>
                </a:solidFill>
                <a:latin typeface="Cambria"/>
                <a:cs typeface="Cambria"/>
              </a:rPr>
              <a:t>Vehicular</a:t>
            </a:r>
            <a:r>
              <a:rPr sz="3050" spc="6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3050" spc="-10" dirty="0">
                <a:solidFill>
                  <a:srgbClr val="161616"/>
                </a:solidFill>
                <a:latin typeface="Cambria"/>
                <a:cs typeface="Cambria"/>
              </a:rPr>
              <a:t>Transit</a:t>
            </a:r>
            <a:r>
              <a:rPr sz="3050" dirty="0">
                <a:solidFill>
                  <a:srgbClr val="161616"/>
                </a:solidFill>
                <a:latin typeface="Cambria"/>
                <a:cs typeface="Cambria"/>
              </a:rPr>
              <a:t>	</a:t>
            </a:r>
            <a:r>
              <a:rPr sz="3050" spc="120" dirty="0">
                <a:solidFill>
                  <a:srgbClr val="1C1C1C"/>
                </a:solidFill>
                <a:latin typeface="Cambria"/>
                <a:cs typeface="Cambria"/>
              </a:rPr>
              <a:t>Recovered</a:t>
            </a:r>
            <a:r>
              <a:rPr sz="3050" dirty="0">
                <a:solidFill>
                  <a:srgbClr val="1C1C1C"/>
                </a:solidFill>
                <a:latin typeface="Cambria"/>
                <a:cs typeface="Cambria"/>
              </a:rPr>
              <a:t>	</a:t>
            </a:r>
            <a:r>
              <a:rPr sz="3050" spc="85" dirty="0">
                <a:solidFill>
                  <a:srgbClr val="181818"/>
                </a:solidFill>
                <a:latin typeface="Cambria"/>
                <a:cs typeface="Cambria"/>
              </a:rPr>
              <a:t>Fastest:</a:t>
            </a:r>
            <a:endParaRPr sz="3050" dirty="0">
              <a:latin typeface="Cambria"/>
              <a:cs typeface="Cambria"/>
            </a:endParaRPr>
          </a:p>
          <a:p>
            <a:pPr marL="18415">
              <a:lnSpc>
                <a:spcPts val="3365"/>
              </a:lnSpc>
            </a:pPr>
            <a:r>
              <a:rPr sz="2950" spc="-70" dirty="0">
                <a:latin typeface="Cambria"/>
                <a:cs typeface="Cambria"/>
              </a:rPr>
              <a:t>Bridges</a:t>
            </a:r>
            <a:r>
              <a:rPr sz="2950" spc="-105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&amp;</a:t>
            </a:r>
            <a:r>
              <a:rPr sz="2950" spc="-160" dirty="0">
                <a:latin typeface="Cambria"/>
                <a:cs typeface="Cambria"/>
              </a:rPr>
              <a:t> </a:t>
            </a:r>
            <a:r>
              <a:rPr sz="2950" spc="-60" dirty="0">
                <a:latin typeface="Cambria"/>
                <a:cs typeface="Cambria"/>
              </a:rPr>
              <a:t>Tunnels</a:t>
            </a:r>
            <a:r>
              <a:rPr sz="2950" spc="-105" dirty="0">
                <a:latin typeface="Cambria"/>
                <a:cs typeface="Cambria"/>
              </a:rPr>
              <a:t> </a:t>
            </a:r>
            <a:r>
              <a:rPr sz="2950" spc="-75" dirty="0">
                <a:latin typeface="Cambria"/>
                <a:cs typeface="Cambria"/>
              </a:rPr>
              <a:t>consistently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outperformed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35" dirty="0">
                <a:latin typeface="Cambria"/>
                <a:cs typeface="Cambria"/>
              </a:rPr>
              <a:t>public</a:t>
            </a:r>
            <a:r>
              <a:rPr sz="2950" spc="-95" dirty="0">
                <a:latin typeface="Cambria"/>
                <a:cs typeface="Cambria"/>
              </a:rPr>
              <a:t> </a:t>
            </a:r>
            <a:r>
              <a:rPr sz="2950" spc="-85" dirty="0">
                <a:latin typeface="Cambria"/>
                <a:cs typeface="Cambria"/>
              </a:rPr>
              <a:t>transit</a:t>
            </a:r>
            <a:r>
              <a:rPr sz="2950" spc="3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modes,</a:t>
            </a:r>
            <a:endParaRPr sz="2950" dirty="0">
              <a:latin typeface="Cambria"/>
              <a:cs typeface="Cambria"/>
            </a:endParaRPr>
          </a:p>
          <a:p>
            <a:pPr marL="26034">
              <a:lnSpc>
                <a:spcPts val="3385"/>
              </a:lnSpc>
            </a:pPr>
            <a:r>
              <a:rPr sz="2900" spc="-70" dirty="0">
                <a:latin typeface="Cambria"/>
                <a:cs typeface="Cambria"/>
              </a:rPr>
              <a:t>reaching</a:t>
            </a:r>
            <a:r>
              <a:rPr sz="2900" spc="-90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pre-</a:t>
            </a:r>
            <a:r>
              <a:rPr sz="2900" spc="-50" dirty="0">
                <a:latin typeface="Cambria"/>
                <a:cs typeface="Cambria"/>
              </a:rPr>
              <a:t>pandemic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65" dirty="0">
                <a:latin typeface="Cambria"/>
                <a:cs typeface="Cambria"/>
              </a:rPr>
              <a:t>levels</a:t>
            </a:r>
            <a:r>
              <a:rPr sz="2900" spc="-85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much </a:t>
            </a:r>
            <a:r>
              <a:rPr sz="2900" spc="-105" dirty="0">
                <a:latin typeface="Cambria"/>
                <a:cs typeface="Cambria"/>
              </a:rPr>
              <a:t>more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quickly.</a:t>
            </a:r>
            <a:endParaRPr sz="2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endParaRPr sz="2900" dirty="0">
              <a:latin typeface="Cambria"/>
              <a:cs typeface="Cambria"/>
            </a:endParaRPr>
          </a:p>
          <a:p>
            <a:pPr marL="17145">
              <a:lnSpc>
                <a:spcPts val="3865"/>
              </a:lnSpc>
            </a:pPr>
            <a:r>
              <a:rPr sz="3400" spc="50" dirty="0">
                <a:solidFill>
                  <a:srgbClr val="1A1A1A"/>
                </a:solidFill>
                <a:latin typeface="Calibri"/>
                <a:cs typeface="Calibri"/>
              </a:rPr>
              <a:t>Behavioral</a:t>
            </a:r>
            <a:r>
              <a:rPr sz="340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3400" spc="155" dirty="0">
                <a:solidFill>
                  <a:srgbClr val="1F1F1F"/>
                </a:solidFill>
                <a:latin typeface="Calibri"/>
                <a:cs typeface="Calibri"/>
              </a:rPr>
              <a:t>Ships</a:t>
            </a:r>
            <a:r>
              <a:rPr sz="3400" spc="-1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400" spc="90" dirty="0">
                <a:solidFill>
                  <a:srgbClr val="081D34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081D34"/>
                </a:solidFill>
                <a:latin typeface="Calibri"/>
                <a:cs typeface="Calibri"/>
              </a:rPr>
              <a:t> </a:t>
            </a:r>
            <a:r>
              <a:rPr sz="3400" spc="55" dirty="0">
                <a:solidFill>
                  <a:srgbClr val="111111"/>
                </a:solidFill>
                <a:latin typeface="Calibri"/>
                <a:cs typeface="Calibri"/>
              </a:rPr>
              <a:t>Evident:</a:t>
            </a:r>
            <a:endParaRPr sz="3400" dirty="0">
              <a:latin typeface="Calibri"/>
              <a:cs typeface="Calibri"/>
            </a:endParaRPr>
          </a:p>
          <a:p>
            <a:pPr marL="25400" marR="525780" indent="-13335">
              <a:lnSpc>
                <a:spcPts val="3350"/>
              </a:lnSpc>
              <a:spcBef>
                <a:spcPts val="155"/>
              </a:spcBef>
            </a:pPr>
            <a:r>
              <a:rPr sz="3050" spc="-204" dirty="0">
                <a:latin typeface="Times New Roman"/>
                <a:cs typeface="Times New Roman"/>
              </a:rPr>
              <a:t>A</a:t>
            </a:r>
            <a:r>
              <a:rPr sz="3050" spc="-254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clear</a:t>
            </a:r>
            <a:r>
              <a:rPr sz="3050" spc="-18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distinction</a:t>
            </a:r>
            <a:r>
              <a:rPr sz="3050" spc="-1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190" dirty="0">
                <a:latin typeface="Times New Roman"/>
                <a:cs typeface="Times New Roman"/>
              </a:rPr>
              <a:t> </a:t>
            </a:r>
            <a:r>
              <a:rPr sz="3050" spc="-40" dirty="0">
                <a:latin typeface="Times New Roman"/>
                <a:cs typeface="Times New Roman"/>
              </a:rPr>
              <a:t>weekend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-80" dirty="0">
                <a:latin typeface="Times New Roman"/>
                <a:cs typeface="Times New Roman"/>
              </a:rPr>
              <a:t>vs.</a:t>
            </a:r>
            <a:r>
              <a:rPr sz="3050" spc="-110" dirty="0">
                <a:latin typeface="Times New Roman"/>
                <a:cs typeface="Times New Roman"/>
              </a:rPr>
              <a:t> </a:t>
            </a:r>
            <a:r>
              <a:rPr sz="3050" spc="-80" dirty="0">
                <a:latin typeface="Times New Roman"/>
                <a:cs typeface="Times New Roman"/>
              </a:rPr>
              <a:t>weekday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-70" dirty="0">
                <a:latin typeface="Times New Roman"/>
                <a:cs typeface="Times New Roman"/>
              </a:rPr>
              <a:t>recovery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patterns </a:t>
            </a:r>
            <a:r>
              <a:rPr sz="3100" spc="-85" dirty="0">
                <a:latin typeface="Times New Roman"/>
                <a:cs typeface="Times New Roman"/>
              </a:rPr>
              <a:t>highlights</a:t>
            </a:r>
            <a:r>
              <a:rPr sz="3100" spc="-110" dirty="0">
                <a:latin typeface="Times New Roman"/>
                <a:cs typeface="Times New Roman"/>
              </a:rPr>
              <a:t> </a:t>
            </a:r>
            <a:r>
              <a:rPr sz="3100" spc="-40" dirty="0">
                <a:latin typeface="Times New Roman"/>
                <a:cs typeface="Times New Roman"/>
              </a:rPr>
              <a:t>lasting</a:t>
            </a:r>
            <a:r>
              <a:rPr sz="3100" spc="-155" dirty="0">
                <a:latin typeface="Times New Roman"/>
                <a:cs typeface="Times New Roman"/>
              </a:rPr>
              <a:t> </a:t>
            </a:r>
            <a:r>
              <a:rPr sz="3100" spc="-60" dirty="0">
                <a:latin typeface="Times New Roman"/>
                <a:cs typeface="Times New Roman"/>
              </a:rPr>
              <a:t>changes</a:t>
            </a:r>
            <a:r>
              <a:rPr sz="3100" spc="-135" dirty="0">
                <a:latin typeface="Times New Roman"/>
                <a:cs typeface="Times New Roman"/>
              </a:rPr>
              <a:t> </a:t>
            </a:r>
            <a:r>
              <a:rPr sz="3100" spc="-35" dirty="0">
                <a:latin typeface="Times New Roman"/>
                <a:cs typeface="Times New Roman"/>
              </a:rPr>
              <a:t>in</a:t>
            </a:r>
            <a:r>
              <a:rPr sz="3100" spc="-155" dirty="0">
                <a:latin typeface="Times New Roman"/>
                <a:cs typeface="Times New Roman"/>
              </a:rPr>
              <a:t> </a:t>
            </a:r>
            <a:r>
              <a:rPr sz="3100" spc="-65" dirty="0">
                <a:latin typeface="Times New Roman"/>
                <a:cs typeface="Times New Roman"/>
              </a:rPr>
              <a:t>commuting</a:t>
            </a:r>
            <a:r>
              <a:rPr sz="3100" spc="-100" dirty="0">
                <a:latin typeface="Times New Roman"/>
                <a:cs typeface="Times New Roman"/>
              </a:rPr>
              <a:t> </a:t>
            </a:r>
            <a:r>
              <a:rPr sz="3100" spc="-45" dirty="0">
                <a:latin typeface="Times New Roman"/>
                <a:cs typeface="Times New Roman"/>
              </a:rPr>
              <a:t>and</a:t>
            </a:r>
            <a:r>
              <a:rPr sz="3100" spc="-145" dirty="0">
                <a:latin typeface="Times New Roman"/>
                <a:cs typeface="Times New Roman"/>
              </a:rPr>
              <a:t> </a:t>
            </a:r>
            <a:r>
              <a:rPr sz="3100" spc="-30" dirty="0">
                <a:latin typeface="Times New Roman"/>
                <a:cs typeface="Times New Roman"/>
              </a:rPr>
              <a:t>leisure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spc="-65" dirty="0">
                <a:latin typeface="Times New Roman"/>
                <a:cs typeface="Times New Roman"/>
              </a:rPr>
              <a:t>travel</a:t>
            </a:r>
            <a:r>
              <a:rPr sz="3100" spc="-13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habits </a:t>
            </a:r>
            <a:r>
              <a:rPr sz="3050" spc="-20" dirty="0">
                <a:latin typeface="Times New Roman"/>
                <a:cs typeface="Times New Roman"/>
              </a:rPr>
              <a:t>post-</a:t>
            </a:r>
            <a:r>
              <a:rPr sz="3050" spc="-10" dirty="0">
                <a:latin typeface="Times New Roman"/>
                <a:cs typeface="Times New Roman"/>
              </a:rPr>
              <a:t>pandemic.</a:t>
            </a:r>
            <a:endParaRPr sz="3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479" y="790927"/>
            <a:ext cx="14043660" cy="18543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6000" b="1" dirty="0"/>
              <a:t>Impact </a:t>
            </a:r>
            <a:r>
              <a:rPr sz="5950" spc="-125" dirty="0">
                <a:solidFill>
                  <a:srgbClr val="07213D"/>
                </a:solidFill>
              </a:rPr>
              <a:t>:</a:t>
            </a:r>
            <a:r>
              <a:rPr sz="5950" spc="-160" dirty="0">
                <a:solidFill>
                  <a:srgbClr val="07213D"/>
                </a:solidFill>
              </a:rPr>
              <a:t> </a:t>
            </a:r>
            <a:r>
              <a:rPr lang="en-US" sz="4400" dirty="0">
                <a:highlight>
                  <a:srgbClr val="808080"/>
                </a:highlight>
              </a:rPr>
              <a:t>How This Helps Decision-Makers</a:t>
            </a:r>
            <a:br>
              <a:rPr lang="en-US" sz="6000" dirty="0"/>
            </a:br>
            <a:endParaRPr sz="5950" dirty="0"/>
          </a:p>
        </p:txBody>
      </p:sp>
      <p:sp>
        <p:nvSpPr>
          <p:cNvPr id="3" name="object 3"/>
          <p:cNvSpPr txBox="1"/>
          <p:nvPr/>
        </p:nvSpPr>
        <p:spPr>
          <a:xfrm>
            <a:off x="955638" y="1639005"/>
            <a:ext cx="14495144" cy="2364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5700" dirty="0">
              <a:latin typeface="Arial MT"/>
              <a:cs typeface="Arial MT"/>
            </a:endParaRPr>
          </a:p>
          <a:p>
            <a:pPr marL="17145" marR="5080" indent="3175">
              <a:lnSpc>
                <a:spcPts val="3650"/>
              </a:lnSpc>
              <a:spcBef>
                <a:spcPts val="4140"/>
              </a:spcBef>
              <a:tabLst>
                <a:tab pos="4954905" algn="l"/>
              </a:tabLst>
            </a:pPr>
            <a:r>
              <a:rPr sz="3400" spc="-25" dirty="0">
                <a:solidFill>
                  <a:srgbClr val="2A2A2A"/>
                </a:solidFill>
                <a:latin typeface="Cambria"/>
                <a:cs typeface="Cambria"/>
              </a:rPr>
              <a:t>This</a:t>
            </a:r>
            <a:r>
              <a:rPr sz="3400" spc="-16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3400" dirty="0">
                <a:solidFill>
                  <a:srgbClr val="2A2A2A"/>
                </a:solidFill>
                <a:latin typeface="Cambria"/>
                <a:cs typeface="Cambria"/>
              </a:rPr>
              <a:t>BI</a:t>
            </a:r>
            <a:r>
              <a:rPr sz="3400" spc="-18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3400" spc="-60" dirty="0">
                <a:solidFill>
                  <a:srgbClr val="2B2B2B"/>
                </a:solidFill>
                <a:latin typeface="Cambria"/>
                <a:cs typeface="Cambria"/>
              </a:rPr>
              <a:t>solution</a:t>
            </a:r>
            <a:r>
              <a:rPr sz="3400" spc="-13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3400" spc="-75" dirty="0">
                <a:solidFill>
                  <a:srgbClr val="282828"/>
                </a:solidFill>
                <a:latin typeface="Cambria"/>
                <a:cs typeface="Cambria"/>
              </a:rPr>
              <a:t>moves</a:t>
            </a:r>
            <a:r>
              <a:rPr sz="3400" spc="-11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spc="-65" dirty="0">
                <a:solidFill>
                  <a:srgbClr val="232323"/>
                </a:solidFill>
                <a:latin typeface="Cambria"/>
                <a:cs typeface="Cambria"/>
              </a:rPr>
              <a:t>beyond</a:t>
            </a:r>
            <a:r>
              <a:rPr sz="3400" spc="-110" dirty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sz="3400" spc="-25" dirty="0">
                <a:solidFill>
                  <a:srgbClr val="282828"/>
                </a:solidFill>
                <a:latin typeface="Cambria"/>
                <a:cs typeface="Cambria"/>
              </a:rPr>
              <a:t>simple</a:t>
            </a:r>
            <a:r>
              <a:rPr sz="3400" spc="-4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spc="-65" dirty="0">
                <a:solidFill>
                  <a:srgbClr val="2A2A2A"/>
                </a:solidFill>
                <a:latin typeface="Cambria"/>
                <a:cs typeface="Cambria"/>
              </a:rPr>
              <a:t>reporting</a:t>
            </a:r>
            <a:r>
              <a:rPr sz="340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3400" dirty="0">
                <a:solidFill>
                  <a:srgbClr val="363636"/>
                </a:solidFill>
                <a:latin typeface="Cambria"/>
                <a:cs typeface="Cambria"/>
              </a:rPr>
              <a:t>to</a:t>
            </a:r>
            <a:r>
              <a:rPr sz="3400" spc="-12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3400" spc="-30" dirty="0">
                <a:solidFill>
                  <a:srgbClr val="2D2D2D"/>
                </a:solidFill>
                <a:latin typeface="Cambria"/>
                <a:cs typeface="Cambria"/>
              </a:rPr>
              <a:t>become</a:t>
            </a:r>
            <a:r>
              <a:rPr sz="3400" spc="2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3400" spc="-85" dirty="0">
                <a:solidFill>
                  <a:srgbClr val="2A2A2A"/>
                </a:solidFill>
                <a:latin typeface="Cambria"/>
                <a:cs typeface="Cambria"/>
              </a:rPr>
              <a:t>a</a:t>
            </a:r>
            <a:r>
              <a:rPr sz="3400" spc="-12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3400" spc="-70" dirty="0">
                <a:solidFill>
                  <a:srgbClr val="282828"/>
                </a:solidFill>
                <a:latin typeface="Cambria"/>
                <a:cs typeface="Cambria"/>
              </a:rPr>
              <a:t>key</a:t>
            </a:r>
            <a:r>
              <a:rPr sz="3400" spc="-8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spc="-50" dirty="0">
                <a:solidFill>
                  <a:srgbClr val="282828"/>
                </a:solidFill>
                <a:latin typeface="Cambria"/>
                <a:cs typeface="Cambria"/>
              </a:rPr>
              <a:t>tool</a:t>
            </a:r>
            <a:r>
              <a:rPr sz="3400" spc="-13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dirty="0">
                <a:solidFill>
                  <a:srgbClr val="2F2F2F"/>
                </a:solidFill>
                <a:latin typeface="Cambria"/>
                <a:cs typeface="Cambria"/>
              </a:rPr>
              <a:t>for</a:t>
            </a:r>
            <a:r>
              <a:rPr sz="3400" spc="-15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3400" spc="-75" dirty="0">
                <a:solidFill>
                  <a:srgbClr val="232323"/>
                </a:solidFill>
                <a:latin typeface="Cambria"/>
                <a:cs typeface="Cambria"/>
              </a:rPr>
              <a:t>strategic </a:t>
            </a:r>
            <a:r>
              <a:rPr sz="3400" spc="-30" dirty="0">
                <a:solidFill>
                  <a:srgbClr val="282828"/>
                </a:solidFill>
                <a:latin typeface="Cambria"/>
                <a:cs typeface="Cambria"/>
              </a:rPr>
              <a:t>management.</a:t>
            </a:r>
            <a:r>
              <a:rPr sz="3400" spc="3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spc="-10" dirty="0">
                <a:solidFill>
                  <a:srgbClr val="282828"/>
                </a:solidFill>
                <a:latin typeface="Cambria"/>
                <a:cs typeface="Cambria"/>
              </a:rPr>
              <a:t>Empowering</a:t>
            </a:r>
            <a:r>
              <a:rPr sz="3400" dirty="0">
                <a:solidFill>
                  <a:srgbClr val="282828"/>
                </a:solidFill>
                <a:latin typeface="Cambria"/>
                <a:cs typeface="Cambria"/>
              </a:rPr>
              <a:t>	</a:t>
            </a:r>
            <a:r>
              <a:rPr sz="3400" spc="-75" dirty="0">
                <a:solidFill>
                  <a:srgbClr val="282828"/>
                </a:solidFill>
                <a:latin typeface="Cambria"/>
                <a:cs typeface="Cambria"/>
              </a:rPr>
              <a:t>stakeholders</a:t>
            </a:r>
            <a:r>
              <a:rPr sz="3400" spc="-3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400" spc="-25" dirty="0">
                <a:solidFill>
                  <a:srgbClr val="2B2B2B"/>
                </a:solidFill>
                <a:latin typeface="Cambria"/>
                <a:cs typeface="Cambria"/>
              </a:rPr>
              <a:t>to:</a:t>
            </a:r>
            <a:endParaRPr sz="3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5860" y="4687358"/>
            <a:ext cx="3617595" cy="10668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3970" marR="5080" indent="-1905">
              <a:lnSpc>
                <a:spcPts val="3950"/>
              </a:lnSpc>
              <a:spcBef>
                <a:spcPts val="480"/>
              </a:spcBef>
            </a:pPr>
            <a:r>
              <a:rPr sz="3550" spc="-45" dirty="0">
                <a:solidFill>
                  <a:srgbClr val="1A1A1A"/>
                </a:solidFill>
                <a:latin typeface="Arial MT"/>
                <a:cs typeface="Arial MT"/>
              </a:rPr>
              <a:t>Allocate</a:t>
            </a:r>
            <a:r>
              <a:rPr sz="3550" spc="-1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3550" spc="-210" dirty="0">
                <a:solidFill>
                  <a:srgbClr val="151515"/>
                </a:solidFill>
                <a:latin typeface="Arial MT"/>
                <a:cs typeface="Arial MT"/>
              </a:rPr>
              <a:t>Resources </a:t>
            </a:r>
            <a:r>
              <a:rPr sz="3550" spc="-30" dirty="0">
                <a:solidFill>
                  <a:srgbClr val="071C31"/>
                </a:solidFill>
                <a:latin typeface="Arial MT"/>
                <a:cs typeface="Arial MT"/>
              </a:rPr>
              <a:t>EKectively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652" y="6151033"/>
            <a:ext cx="4309110" cy="21069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6715" marR="5080" indent="-374650">
              <a:lnSpc>
                <a:spcPct val="90300"/>
              </a:lnSpc>
              <a:spcBef>
                <a:spcPts val="455"/>
              </a:spcBef>
              <a:buClr>
                <a:srgbClr val="424242"/>
              </a:buClr>
              <a:buChar char="•"/>
              <a:tabLst>
                <a:tab pos="389255" algn="l"/>
              </a:tabLst>
            </a:pPr>
            <a:r>
              <a:rPr sz="2900" dirty="0">
                <a:latin typeface="Cambria"/>
                <a:cs typeface="Cambria"/>
              </a:rPr>
              <a:t>Make</a:t>
            </a:r>
            <a:r>
              <a:rPr sz="2900" spc="-8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informed</a:t>
            </a:r>
            <a:r>
              <a:rPr sz="2900" spc="-10" dirty="0">
                <a:latin typeface="Cambria"/>
                <a:cs typeface="Cambria"/>
              </a:rPr>
              <a:t> </a:t>
            </a:r>
            <a:r>
              <a:rPr sz="2900" spc="-25" dirty="0">
                <a:latin typeface="Cambria"/>
                <a:cs typeface="Cambria"/>
              </a:rPr>
              <a:t>decisions 	</a:t>
            </a:r>
            <a:r>
              <a:rPr sz="3050" spc="-120" dirty="0">
                <a:latin typeface="Cambria"/>
                <a:cs typeface="Cambria"/>
              </a:rPr>
              <a:t>based</a:t>
            </a:r>
            <a:r>
              <a:rPr sz="3050" spc="-50" dirty="0">
                <a:latin typeface="Cambria"/>
                <a:cs typeface="Cambria"/>
              </a:rPr>
              <a:t> </a:t>
            </a:r>
            <a:r>
              <a:rPr sz="3050" spc="-35" dirty="0">
                <a:latin typeface="Cambria"/>
                <a:cs typeface="Cambria"/>
              </a:rPr>
              <a:t>on</a:t>
            </a:r>
            <a:r>
              <a:rPr sz="3050" spc="-110" dirty="0">
                <a:latin typeface="Cambria"/>
                <a:cs typeface="Cambria"/>
              </a:rPr>
              <a:t> </a:t>
            </a:r>
            <a:r>
              <a:rPr sz="3050" spc="-120" dirty="0">
                <a:latin typeface="Cambria"/>
                <a:cs typeface="Cambria"/>
              </a:rPr>
              <a:t>the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nuanced 	</a:t>
            </a:r>
            <a:r>
              <a:rPr sz="3050" spc="-120" dirty="0">
                <a:latin typeface="Cambria"/>
                <a:cs typeface="Cambria"/>
              </a:rPr>
              <a:t>recovery</a:t>
            </a:r>
            <a:r>
              <a:rPr sz="3050" spc="-15" dirty="0">
                <a:latin typeface="Cambria"/>
                <a:cs typeface="Cambria"/>
              </a:rPr>
              <a:t> </a:t>
            </a:r>
            <a:r>
              <a:rPr sz="3050" spc="-100" dirty="0">
                <a:latin typeface="Cambria"/>
                <a:cs typeface="Cambria"/>
              </a:rPr>
              <a:t>trends</a:t>
            </a:r>
            <a:r>
              <a:rPr sz="3050" spc="-60" dirty="0">
                <a:latin typeface="Cambria"/>
                <a:cs typeface="Cambria"/>
              </a:rPr>
              <a:t> </a:t>
            </a:r>
            <a:r>
              <a:rPr sz="3050" spc="-25" dirty="0">
                <a:latin typeface="Cambria"/>
                <a:cs typeface="Cambria"/>
              </a:rPr>
              <a:t>and 	</a:t>
            </a:r>
            <a:r>
              <a:rPr sz="2950" spc="-45" dirty="0">
                <a:latin typeface="Cambria"/>
                <a:cs typeface="Cambria"/>
              </a:rPr>
              <a:t>ridership</a:t>
            </a:r>
            <a:r>
              <a:rPr sz="2950" spc="-100" dirty="0">
                <a:latin typeface="Cambria"/>
                <a:cs typeface="Cambria"/>
              </a:rPr>
              <a:t> </a:t>
            </a:r>
            <a:r>
              <a:rPr sz="2950" spc="-50" dirty="0">
                <a:latin typeface="Cambria"/>
                <a:cs typeface="Cambria"/>
              </a:rPr>
              <a:t>volumes</a:t>
            </a:r>
            <a:r>
              <a:rPr sz="2950" spc="-110" dirty="0">
                <a:latin typeface="Cambria"/>
                <a:cs typeface="Cambria"/>
              </a:rPr>
              <a:t> </a:t>
            </a:r>
            <a:r>
              <a:rPr sz="2950" spc="-25" dirty="0">
                <a:latin typeface="Cambria"/>
                <a:cs typeface="Cambria"/>
              </a:rPr>
              <a:t>of 	</a:t>
            </a:r>
            <a:r>
              <a:rPr sz="2850" dirty="0">
                <a:latin typeface="Cambria"/>
                <a:cs typeface="Cambria"/>
              </a:rPr>
              <a:t>different</a:t>
            </a:r>
            <a:r>
              <a:rPr sz="2850" spc="1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transit</a:t>
            </a:r>
            <a:r>
              <a:rPr sz="2850" spc="-2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modes.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3164" y="4696177"/>
            <a:ext cx="2766695" cy="1058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995"/>
              </a:lnSpc>
              <a:spcBef>
                <a:spcPts val="120"/>
              </a:spcBef>
            </a:pPr>
            <a:r>
              <a:rPr sz="3450" spc="-80" dirty="0">
                <a:solidFill>
                  <a:srgbClr val="081828"/>
                </a:solidFill>
                <a:latin typeface="Arial MT"/>
                <a:cs typeface="Arial MT"/>
              </a:rPr>
              <a:t>Target</a:t>
            </a:r>
            <a:r>
              <a:rPr sz="3450" spc="-130" dirty="0">
                <a:solidFill>
                  <a:srgbClr val="081828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161616"/>
                </a:solidFill>
                <a:latin typeface="Arial MT"/>
                <a:cs typeface="Arial MT"/>
              </a:rPr>
              <a:t>Growth</a:t>
            </a:r>
            <a:endParaRPr sz="3450">
              <a:latin typeface="Arial MT"/>
              <a:cs typeface="Arial MT"/>
            </a:endParaRPr>
          </a:p>
          <a:p>
            <a:pPr marL="13970">
              <a:lnSpc>
                <a:spcPts val="4115"/>
              </a:lnSpc>
            </a:pPr>
            <a:r>
              <a:rPr sz="3550" spc="-10" dirty="0">
                <a:solidFill>
                  <a:srgbClr val="151515"/>
                </a:solidFill>
                <a:latin typeface="Arial MT"/>
                <a:cs typeface="Arial MT"/>
              </a:rPr>
              <a:t>Opportunities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42783" y="4720166"/>
            <a:ext cx="3364229" cy="10223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" marR="5080" indent="-12065">
              <a:lnSpc>
                <a:spcPts val="3850"/>
              </a:lnSpc>
              <a:spcBef>
                <a:spcPts val="350"/>
              </a:spcBef>
            </a:pPr>
            <a:r>
              <a:rPr sz="3300" spc="60" dirty="0">
                <a:solidFill>
                  <a:srgbClr val="161616"/>
                </a:solidFill>
                <a:latin typeface="Arial MT"/>
                <a:cs typeface="Arial MT"/>
              </a:rPr>
              <a:t>Support</a:t>
            </a:r>
            <a:r>
              <a:rPr sz="33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81A28"/>
                </a:solidFill>
                <a:latin typeface="Arial MT"/>
                <a:cs typeface="Arial MT"/>
              </a:rPr>
              <a:t>Strategic </a:t>
            </a:r>
            <a:r>
              <a:rPr sz="3300" spc="-10" dirty="0">
                <a:solidFill>
                  <a:srgbClr val="131313"/>
                </a:solidFill>
                <a:latin typeface="Arial MT"/>
                <a:cs typeface="Arial MT"/>
              </a:rPr>
              <a:t>Planning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4978" y="6139744"/>
            <a:ext cx="4572635" cy="21215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88620" marR="5080" indent="-376555">
              <a:lnSpc>
                <a:spcPct val="86600"/>
              </a:lnSpc>
              <a:spcBef>
                <a:spcPts val="595"/>
              </a:spcBef>
              <a:buChar char="•"/>
              <a:tabLst>
                <a:tab pos="388620" algn="l"/>
                <a:tab pos="392430" algn="l"/>
              </a:tabLst>
            </a:pPr>
            <a:r>
              <a:rPr sz="305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3050" dirty="0">
                <a:latin typeface="Times New Roman"/>
                <a:cs typeface="Times New Roman"/>
              </a:rPr>
              <a:t>Identify</a:t>
            </a:r>
            <a:r>
              <a:rPr sz="3050" spc="-1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which</a:t>
            </a:r>
            <a:r>
              <a:rPr sz="3050" spc="-1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services</a:t>
            </a:r>
            <a:r>
              <a:rPr sz="3050" spc="-130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are </a:t>
            </a:r>
            <a:r>
              <a:rPr sz="3100" spc="-60" dirty="0">
                <a:latin typeface="Times New Roman"/>
                <a:cs typeface="Times New Roman"/>
              </a:rPr>
              <a:t>lagging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125" dirty="0">
                <a:latin typeface="Times New Roman"/>
                <a:cs typeface="Times New Roman"/>
              </a:rPr>
              <a:t> </a:t>
            </a:r>
            <a:r>
              <a:rPr sz="3100" spc="-45" dirty="0">
                <a:latin typeface="Times New Roman"/>
                <a:cs typeface="Times New Roman"/>
              </a:rPr>
              <a:t>recovery</a:t>
            </a:r>
            <a:r>
              <a:rPr sz="3100" spc="-110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and </a:t>
            </a:r>
            <a:r>
              <a:rPr sz="3200" spc="-130" dirty="0">
                <a:latin typeface="Times New Roman"/>
                <a:cs typeface="Times New Roman"/>
              </a:rPr>
              <a:t>may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require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targeted </a:t>
            </a:r>
            <a:r>
              <a:rPr sz="3100" spc="-10" dirty="0">
                <a:latin typeface="Times New Roman"/>
                <a:cs typeface="Times New Roman"/>
              </a:rPr>
              <a:t>marketing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or</a:t>
            </a:r>
            <a:r>
              <a:rPr sz="3100" spc="-16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operational </a:t>
            </a:r>
            <a:r>
              <a:rPr sz="2950" spc="50" dirty="0">
                <a:latin typeface="Times New Roman"/>
                <a:cs typeface="Times New Roman"/>
              </a:rPr>
              <a:t>adjustments.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40578" y="6139744"/>
            <a:ext cx="3980815" cy="17189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9890" marR="5080" indent="-377825">
              <a:lnSpc>
                <a:spcPct val="85600"/>
              </a:lnSpc>
              <a:spcBef>
                <a:spcPts val="630"/>
              </a:spcBef>
              <a:buChar char="•"/>
              <a:tabLst>
                <a:tab pos="389890" algn="l"/>
                <a:tab pos="400050" algn="l"/>
              </a:tabLst>
            </a:pPr>
            <a:r>
              <a:rPr sz="3050" dirty="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sz="3050" spc="-75" dirty="0">
                <a:latin typeface="Times New Roman"/>
                <a:cs typeface="Times New Roman"/>
              </a:rPr>
              <a:t>Use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reliable,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-40" dirty="0">
                <a:latin typeface="Times New Roman"/>
                <a:cs typeface="Times New Roman"/>
              </a:rPr>
              <a:t>up-</a:t>
            </a:r>
            <a:r>
              <a:rPr sz="3050" spc="-35" dirty="0">
                <a:latin typeface="Times New Roman"/>
                <a:cs typeface="Times New Roman"/>
              </a:rPr>
              <a:t>to-</a:t>
            </a:r>
            <a:r>
              <a:rPr sz="3050" spc="-20" dirty="0">
                <a:latin typeface="Times New Roman"/>
                <a:cs typeface="Times New Roman"/>
              </a:rPr>
              <a:t>date </a:t>
            </a:r>
            <a:r>
              <a:rPr sz="3100" dirty="0">
                <a:latin typeface="Times New Roman"/>
                <a:cs typeface="Times New Roman"/>
              </a:rPr>
              <a:t>data</a:t>
            </a:r>
            <a:r>
              <a:rPr sz="3100" spc="-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-100" dirty="0">
                <a:latin typeface="Times New Roman"/>
                <a:cs typeface="Times New Roman"/>
              </a:rPr>
              <a:t> </a:t>
            </a:r>
            <a:r>
              <a:rPr sz="3100" spc="-55" dirty="0">
                <a:latin typeface="Times New Roman"/>
                <a:cs typeface="Times New Roman"/>
              </a:rPr>
              <a:t>model</a:t>
            </a:r>
            <a:r>
              <a:rPr sz="3100" spc="-14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future </a:t>
            </a:r>
            <a:r>
              <a:rPr sz="3200" spc="-40" dirty="0">
                <a:latin typeface="Times New Roman"/>
                <a:cs typeface="Times New Roman"/>
              </a:rPr>
              <a:t>scenarios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and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inform </a:t>
            </a:r>
            <a:r>
              <a:rPr sz="3100" spc="-65" dirty="0">
                <a:latin typeface="Times New Roman"/>
                <a:cs typeface="Times New Roman"/>
              </a:rPr>
              <a:t>long-</a:t>
            </a:r>
            <a:r>
              <a:rPr sz="3100" dirty="0">
                <a:latin typeface="Times New Roman"/>
                <a:cs typeface="Times New Roman"/>
              </a:rPr>
              <a:t>term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planning.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275" y="680155"/>
            <a:ext cx="15612649" cy="93679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20"/>
              </a:spcBef>
            </a:pPr>
            <a:r>
              <a:rPr b="1" spc="-80" dirty="0"/>
              <a:t>Conclusion</a:t>
            </a:r>
            <a:r>
              <a:rPr lang="en-US" b="1" spc="-80" dirty="0"/>
              <a:t> </a:t>
            </a:r>
            <a:r>
              <a:rPr spc="-80" dirty="0"/>
              <a:t>:</a:t>
            </a:r>
            <a:r>
              <a:rPr lang="en-US" spc="-80" dirty="0"/>
              <a:t> </a:t>
            </a:r>
            <a:r>
              <a:rPr lang="en-US" sz="4400" dirty="0">
                <a:highlight>
                  <a:srgbClr val="808080"/>
                </a:highlight>
              </a:rPr>
              <a:t>What We Achieved</a:t>
            </a:r>
            <a:endParaRPr sz="4400" spc="-90" dirty="0">
              <a:solidFill>
                <a:srgbClr val="07213A"/>
              </a:solidFill>
              <a:highlight>
                <a:srgbClr val="808080"/>
              </a:highligh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2413" y="2440516"/>
            <a:ext cx="15430500" cy="46973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30"/>
              </a:spcBef>
            </a:pPr>
            <a:r>
              <a:rPr sz="3300" spc="-70" dirty="0">
                <a:solidFill>
                  <a:srgbClr val="4D4D4D"/>
                </a:solidFill>
                <a:latin typeface="Cambria"/>
                <a:cs typeface="Cambria"/>
              </a:rPr>
              <a:t>Project</a:t>
            </a:r>
            <a:r>
              <a:rPr sz="3300" spc="-90" dirty="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sz="3300" spc="-10" dirty="0">
                <a:solidFill>
                  <a:srgbClr val="4F4F4F"/>
                </a:solidFill>
                <a:latin typeface="Cambria"/>
                <a:cs typeface="Cambria"/>
              </a:rPr>
              <a:t>Summary</a:t>
            </a:r>
            <a:endParaRPr sz="3300" dirty="0">
              <a:latin typeface="Cambria"/>
              <a:cs typeface="Cambria"/>
            </a:endParaRPr>
          </a:p>
          <a:p>
            <a:pPr marL="83820" marR="341630" indent="7620">
              <a:lnSpc>
                <a:spcPct val="101000"/>
              </a:lnSpc>
            </a:pPr>
            <a:r>
              <a:rPr sz="3300" spc="-220" dirty="0">
                <a:latin typeface="Cambria"/>
                <a:cs typeface="Cambria"/>
              </a:rPr>
              <a:t>We</a:t>
            </a:r>
            <a:r>
              <a:rPr sz="3300" spc="-20" dirty="0">
                <a:latin typeface="Cambria"/>
                <a:cs typeface="Cambria"/>
              </a:rPr>
              <a:t> </a:t>
            </a:r>
            <a:r>
              <a:rPr sz="3300" spc="-40" dirty="0">
                <a:latin typeface="Cambria"/>
                <a:cs typeface="Cambria"/>
              </a:rPr>
              <a:t>successfully</a:t>
            </a:r>
            <a:r>
              <a:rPr sz="3300" spc="-125" dirty="0">
                <a:latin typeface="Cambria"/>
                <a:cs typeface="Cambria"/>
              </a:rPr>
              <a:t> </a:t>
            </a:r>
            <a:r>
              <a:rPr sz="3300" spc="-75" dirty="0">
                <a:latin typeface="Cambria"/>
                <a:cs typeface="Cambria"/>
              </a:rPr>
              <a:t>transformed</a:t>
            </a:r>
            <a:r>
              <a:rPr sz="3300" spc="65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a</a:t>
            </a:r>
            <a:r>
              <a:rPr sz="3300" spc="-185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complex,</a:t>
            </a:r>
            <a:r>
              <a:rPr sz="3300" spc="-50" dirty="0">
                <a:latin typeface="Cambria"/>
                <a:cs typeface="Cambria"/>
              </a:rPr>
              <a:t> </a:t>
            </a:r>
            <a:r>
              <a:rPr sz="3300" spc="-65" dirty="0">
                <a:latin typeface="Cambria"/>
                <a:cs typeface="Cambria"/>
              </a:rPr>
              <a:t>unusable</a:t>
            </a:r>
            <a:r>
              <a:rPr sz="3300" spc="60" dirty="0">
                <a:latin typeface="Cambria"/>
                <a:cs typeface="Cambria"/>
              </a:rPr>
              <a:t> </a:t>
            </a:r>
            <a:r>
              <a:rPr sz="3300" spc="-95" dirty="0">
                <a:latin typeface="Cambria"/>
                <a:cs typeface="Cambria"/>
              </a:rPr>
              <a:t>dataset</a:t>
            </a:r>
            <a:r>
              <a:rPr sz="3300" spc="-35" dirty="0">
                <a:latin typeface="Cambria"/>
                <a:cs typeface="Cambria"/>
              </a:rPr>
              <a:t> </a:t>
            </a:r>
            <a:r>
              <a:rPr sz="3300" spc="-25" dirty="0">
                <a:latin typeface="Cambria"/>
                <a:cs typeface="Cambria"/>
              </a:rPr>
              <a:t>into</a:t>
            </a:r>
            <a:r>
              <a:rPr sz="3300" spc="-160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a</a:t>
            </a:r>
            <a:r>
              <a:rPr sz="3300" spc="-180" dirty="0">
                <a:latin typeface="Cambria"/>
                <a:cs typeface="Cambria"/>
              </a:rPr>
              <a:t> </a:t>
            </a:r>
            <a:r>
              <a:rPr sz="3300" spc="-50" dirty="0">
                <a:latin typeface="Cambria"/>
                <a:cs typeface="Cambria"/>
              </a:rPr>
              <a:t>dynamic</a:t>
            </a:r>
            <a:r>
              <a:rPr sz="3300" spc="75" dirty="0">
                <a:latin typeface="Cambria"/>
                <a:cs typeface="Cambria"/>
              </a:rPr>
              <a:t> </a:t>
            </a:r>
            <a:r>
              <a:rPr sz="3300" spc="-30" dirty="0">
                <a:latin typeface="Cambria"/>
                <a:cs typeface="Cambria"/>
              </a:rPr>
              <a:t>and</a:t>
            </a:r>
            <a:r>
              <a:rPr sz="3300" spc="-150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insightful </a:t>
            </a:r>
            <a:r>
              <a:rPr sz="3300" dirty="0">
                <a:latin typeface="Cambria"/>
                <a:cs typeface="Cambria"/>
              </a:rPr>
              <a:t>BI</a:t>
            </a:r>
            <a:r>
              <a:rPr sz="3300" spc="-185" dirty="0">
                <a:latin typeface="Cambria"/>
                <a:cs typeface="Cambria"/>
              </a:rPr>
              <a:t> </a:t>
            </a:r>
            <a:r>
              <a:rPr sz="3300" spc="-60" dirty="0">
                <a:latin typeface="Cambria"/>
                <a:cs typeface="Cambria"/>
              </a:rPr>
              <a:t>dashboard.</a:t>
            </a:r>
            <a:r>
              <a:rPr sz="3300" spc="-114" dirty="0">
                <a:latin typeface="Cambria"/>
                <a:cs typeface="Cambria"/>
              </a:rPr>
              <a:t> </a:t>
            </a:r>
            <a:r>
              <a:rPr sz="3300" spc="-45" dirty="0">
                <a:latin typeface="Cambria"/>
                <a:cs typeface="Cambria"/>
              </a:rPr>
              <a:t>This</a:t>
            </a:r>
            <a:r>
              <a:rPr sz="3300" spc="-135" dirty="0">
                <a:latin typeface="Cambria"/>
                <a:cs typeface="Cambria"/>
              </a:rPr>
              <a:t> </a:t>
            </a:r>
            <a:r>
              <a:rPr sz="3300" spc="-50" dirty="0">
                <a:latin typeface="Cambria"/>
                <a:cs typeface="Cambria"/>
              </a:rPr>
              <a:t>tool</a:t>
            </a:r>
            <a:r>
              <a:rPr sz="3300" spc="-135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provides</a:t>
            </a:r>
            <a:r>
              <a:rPr sz="3300" spc="-95" dirty="0">
                <a:latin typeface="Cambria"/>
                <a:cs typeface="Cambria"/>
              </a:rPr>
              <a:t> the</a:t>
            </a:r>
            <a:r>
              <a:rPr sz="3300" spc="-85" dirty="0">
                <a:latin typeface="Cambria"/>
                <a:cs typeface="Cambria"/>
              </a:rPr>
              <a:t> </a:t>
            </a:r>
            <a:r>
              <a:rPr sz="3300" spc="-65" dirty="0">
                <a:latin typeface="Cambria"/>
                <a:cs typeface="Cambria"/>
              </a:rPr>
              <a:t>MTA</a:t>
            </a:r>
            <a:r>
              <a:rPr sz="3300" spc="-114" dirty="0">
                <a:latin typeface="Cambria"/>
                <a:cs typeface="Cambria"/>
              </a:rPr>
              <a:t> </a:t>
            </a:r>
            <a:r>
              <a:rPr sz="3300" spc="-105" dirty="0">
                <a:latin typeface="Cambria"/>
                <a:cs typeface="Cambria"/>
              </a:rPr>
              <a:t>with</a:t>
            </a:r>
            <a:r>
              <a:rPr sz="3300" spc="-80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critical,</a:t>
            </a:r>
            <a:r>
              <a:rPr sz="3300" spc="15" dirty="0">
                <a:latin typeface="Cambria"/>
                <a:cs typeface="Cambria"/>
              </a:rPr>
              <a:t> </a:t>
            </a:r>
            <a:r>
              <a:rPr sz="3300" spc="-45" dirty="0">
                <a:latin typeface="Cambria"/>
                <a:cs typeface="Cambria"/>
              </a:rPr>
              <a:t>ongoing</a:t>
            </a:r>
            <a:r>
              <a:rPr sz="3300" spc="60" dirty="0">
                <a:latin typeface="Cambria"/>
                <a:cs typeface="Cambria"/>
              </a:rPr>
              <a:t> </a:t>
            </a:r>
            <a:r>
              <a:rPr sz="3300" spc="-65" dirty="0">
                <a:latin typeface="Cambria"/>
                <a:cs typeface="Cambria"/>
              </a:rPr>
              <a:t>visibility</a:t>
            </a:r>
            <a:r>
              <a:rPr sz="3300" spc="65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into</a:t>
            </a:r>
            <a:endParaRPr sz="3300" dirty="0">
              <a:latin typeface="Cambria"/>
              <a:cs typeface="Cambria"/>
            </a:endParaRPr>
          </a:p>
          <a:p>
            <a:pPr marL="93345">
              <a:lnSpc>
                <a:spcPct val="100000"/>
              </a:lnSpc>
              <a:spcBef>
                <a:spcPts val="40"/>
              </a:spcBef>
              <a:tabLst>
                <a:tab pos="2745740" algn="l"/>
              </a:tabLst>
            </a:pPr>
            <a:r>
              <a:rPr sz="3300" spc="-114" dirty="0">
                <a:latin typeface="Cambria"/>
                <a:cs typeface="Cambria"/>
              </a:rPr>
              <a:t>post-</a:t>
            </a:r>
            <a:r>
              <a:rPr sz="3300" spc="-10" dirty="0">
                <a:latin typeface="Cambria"/>
                <a:cs typeface="Cambria"/>
              </a:rPr>
              <a:t>pandemic</a:t>
            </a:r>
            <a:r>
              <a:rPr sz="3300" dirty="0">
                <a:latin typeface="Cambria"/>
                <a:cs typeface="Cambria"/>
              </a:rPr>
              <a:t>	</a:t>
            </a:r>
            <a:r>
              <a:rPr sz="3300" spc="-65" dirty="0">
                <a:latin typeface="Cambria"/>
                <a:cs typeface="Cambria"/>
              </a:rPr>
              <a:t>ridership</a:t>
            </a:r>
            <a:r>
              <a:rPr sz="3300" spc="-50" dirty="0">
                <a:latin typeface="Cambria"/>
                <a:cs typeface="Cambria"/>
              </a:rPr>
              <a:t> </a:t>
            </a:r>
            <a:r>
              <a:rPr sz="3300" spc="-25" dirty="0">
                <a:latin typeface="Cambria"/>
                <a:cs typeface="Cambria"/>
              </a:rPr>
              <a:t>recovery.</a:t>
            </a: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3300" dirty="0">
              <a:latin typeface="Cambria"/>
              <a:cs typeface="Cambria"/>
            </a:endParaRPr>
          </a:p>
          <a:p>
            <a:pPr marL="91440">
              <a:lnSpc>
                <a:spcPts val="3954"/>
              </a:lnSpc>
              <a:spcBef>
                <a:spcPts val="5"/>
              </a:spcBef>
            </a:pPr>
            <a:r>
              <a:rPr sz="3300" spc="-85" dirty="0">
                <a:solidFill>
                  <a:srgbClr val="494949"/>
                </a:solidFill>
                <a:latin typeface="Cambria"/>
                <a:cs typeface="Cambria"/>
              </a:rPr>
              <a:t>Value</a:t>
            </a:r>
            <a:r>
              <a:rPr sz="3300" spc="-100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Delivered: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The</a:t>
            </a:r>
            <a:r>
              <a:rPr sz="3300" spc="-130" dirty="0">
                <a:latin typeface="Cambria"/>
                <a:cs typeface="Cambria"/>
              </a:rPr>
              <a:t> </a:t>
            </a:r>
            <a:r>
              <a:rPr sz="3300" spc="-60" dirty="0">
                <a:latin typeface="Cambria"/>
                <a:cs typeface="Cambria"/>
              </a:rPr>
              <a:t>solution</a:t>
            </a:r>
            <a:r>
              <a:rPr sz="3300" spc="-55" dirty="0">
                <a:latin typeface="Cambria"/>
                <a:cs typeface="Cambria"/>
              </a:rPr>
              <a:t> </a:t>
            </a:r>
            <a:r>
              <a:rPr sz="3300" b="1" spc="-145" dirty="0">
                <a:solidFill>
                  <a:srgbClr val="0A1C34"/>
                </a:solidFill>
                <a:latin typeface="Cambria"/>
                <a:cs typeface="Cambria"/>
              </a:rPr>
              <a:t>replaced</a:t>
            </a:r>
            <a:r>
              <a:rPr sz="3300" b="1" spc="55" dirty="0">
                <a:solidFill>
                  <a:srgbClr val="0A1C34"/>
                </a:solidFill>
                <a:latin typeface="Cambria"/>
                <a:cs typeface="Cambria"/>
              </a:rPr>
              <a:t> </a:t>
            </a:r>
            <a:r>
              <a:rPr sz="3300" b="1" spc="-160" dirty="0">
                <a:solidFill>
                  <a:srgbClr val="0A213A"/>
                </a:solidFill>
                <a:latin typeface="Cambria"/>
                <a:cs typeface="Cambria"/>
              </a:rPr>
              <a:t>ambiguity</a:t>
            </a:r>
            <a:r>
              <a:rPr sz="3300" b="1" spc="150" dirty="0">
                <a:solidFill>
                  <a:srgbClr val="0A213A"/>
                </a:solidFill>
                <a:latin typeface="Cambria"/>
                <a:cs typeface="Cambria"/>
              </a:rPr>
              <a:t> </a:t>
            </a:r>
            <a:r>
              <a:rPr sz="3300" spc="-30" dirty="0">
                <a:solidFill>
                  <a:srgbClr val="031831"/>
                </a:solidFill>
                <a:latin typeface="Cambria"/>
                <a:cs typeface="Cambria"/>
              </a:rPr>
              <a:t>with</a:t>
            </a:r>
            <a:r>
              <a:rPr sz="3300" spc="-150" dirty="0">
                <a:solidFill>
                  <a:srgbClr val="031831"/>
                </a:solidFill>
                <a:latin typeface="Cambria"/>
                <a:cs typeface="Cambria"/>
              </a:rPr>
              <a:t> </a:t>
            </a:r>
            <a:r>
              <a:rPr sz="3300" dirty="0">
                <a:solidFill>
                  <a:srgbClr val="0E0E0E"/>
                </a:solidFill>
                <a:latin typeface="Cambria"/>
                <a:cs typeface="Cambria"/>
              </a:rPr>
              <a:t>clarity,</a:t>
            </a:r>
            <a:r>
              <a:rPr sz="3300" spc="4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3300" b="1" spc="-204" dirty="0">
                <a:solidFill>
                  <a:srgbClr val="051D36"/>
                </a:solidFill>
                <a:latin typeface="Cambria"/>
                <a:cs typeface="Cambria"/>
              </a:rPr>
              <a:t>empowering</a:t>
            </a:r>
            <a:r>
              <a:rPr sz="3300" b="1" spc="45" dirty="0">
                <a:solidFill>
                  <a:srgbClr val="051D36"/>
                </a:solidFill>
                <a:latin typeface="Cambria"/>
                <a:cs typeface="Cambria"/>
              </a:rPr>
              <a:t> </a:t>
            </a:r>
            <a:r>
              <a:rPr sz="3300" spc="-55" dirty="0">
                <a:solidFill>
                  <a:srgbClr val="181818"/>
                </a:solidFill>
                <a:latin typeface="Cambria"/>
                <a:cs typeface="Cambria"/>
              </a:rPr>
              <a:t>data-</a:t>
            </a:r>
            <a:r>
              <a:rPr sz="3300" spc="-10" dirty="0">
                <a:solidFill>
                  <a:srgbClr val="181818"/>
                </a:solidFill>
                <a:latin typeface="Cambria"/>
                <a:cs typeface="Cambria"/>
              </a:rPr>
              <a:t>driven</a:t>
            </a:r>
            <a:endParaRPr sz="3300" dirty="0">
              <a:latin typeface="Cambria"/>
              <a:cs typeface="Cambria"/>
            </a:endParaRPr>
          </a:p>
          <a:p>
            <a:pPr marL="88900">
              <a:lnSpc>
                <a:spcPts val="3954"/>
              </a:lnSpc>
            </a:pPr>
            <a:r>
              <a:rPr sz="3300" b="1" spc="-135" dirty="0">
                <a:solidFill>
                  <a:srgbClr val="131313"/>
                </a:solidFill>
                <a:latin typeface="Cambria"/>
                <a:cs typeface="Cambria"/>
              </a:rPr>
              <a:t>decision-</a:t>
            </a:r>
            <a:r>
              <a:rPr sz="3300" b="1" spc="-165" dirty="0">
                <a:solidFill>
                  <a:srgbClr val="131313"/>
                </a:solidFill>
                <a:latin typeface="Cambria"/>
                <a:cs typeface="Cambria"/>
              </a:rPr>
              <a:t>making</a:t>
            </a:r>
            <a:r>
              <a:rPr sz="3300" b="1" spc="-6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for</a:t>
            </a:r>
            <a:r>
              <a:rPr sz="3300" spc="-140" dirty="0">
                <a:latin typeface="Cambria"/>
                <a:cs typeface="Cambria"/>
              </a:rPr>
              <a:t> </a:t>
            </a:r>
            <a:r>
              <a:rPr sz="3300" b="1" spc="-235" dirty="0">
                <a:latin typeface="Cambria"/>
                <a:cs typeface="Cambria"/>
              </a:rPr>
              <a:t>a</a:t>
            </a:r>
            <a:r>
              <a:rPr sz="3300" b="1" spc="5" dirty="0">
                <a:latin typeface="Cambria"/>
                <a:cs typeface="Cambria"/>
              </a:rPr>
              <a:t> </a:t>
            </a:r>
            <a:r>
              <a:rPr sz="3300" b="1" spc="-130" dirty="0">
                <a:solidFill>
                  <a:srgbClr val="051C34"/>
                </a:solidFill>
                <a:latin typeface="Cambria"/>
                <a:cs typeface="Cambria"/>
              </a:rPr>
              <a:t>vital</a:t>
            </a:r>
            <a:r>
              <a:rPr sz="3300" b="1" spc="-30" dirty="0">
                <a:solidFill>
                  <a:srgbClr val="051C34"/>
                </a:solidFill>
                <a:latin typeface="Cambria"/>
                <a:cs typeface="Cambria"/>
              </a:rPr>
              <a:t> </a:t>
            </a:r>
            <a:r>
              <a:rPr sz="3300" b="1" spc="-120" dirty="0">
                <a:solidFill>
                  <a:srgbClr val="01182F"/>
                </a:solidFill>
                <a:latin typeface="Cambria"/>
                <a:cs typeface="Cambria"/>
              </a:rPr>
              <a:t>public</a:t>
            </a:r>
            <a:r>
              <a:rPr sz="3300" b="1" spc="65" dirty="0">
                <a:solidFill>
                  <a:srgbClr val="01182F"/>
                </a:solidFill>
                <a:latin typeface="Cambria"/>
                <a:cs typeface="Cambria"/>
              </a:rPr>
              <a:t> </a:t>
            </a:r>
            <a:r>
              <a:rPr sz="3300" b="1" spc="-10" dirty="0">
                <a:latin typeface="Cambria"/>
                <a:cs typeface="Cambria"/>
              </a:rPr>
              <a:t>service.</a:t>
            </a: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33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867</Words>
  <Application>Microsoft Office PowerPoint</Application>
  <PresentationFormat>Custom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Project Overview Why This Analysis Matters</vt:lpstr>
      <vt:lpstr>The Challenge Post-Pandemic Uncertainty </vt:lpstr>
      <vt:lpstr>Our Approach From Raw Data to Clear Insights </vt:lpstr>
      <vt:lpstr>Understanding the Data Making Sense of the Numbers</vt:lpstr>
      <vt:lpstr>Structuring the Information Building a Clear Data Story </vt:lpstr>
      <vt:lpstr>Key Metrics: How We Measured Recovery To create a library of robust, reusable measures that provide insight beyond the raw numbers.</vt:lpstr>
      <vt:lpstr>The Dashboard: Visualizing the Recovery Journey </vt:lpstr>
      <vt:lpstr>Insights &amp; Findings:What the Data Revealed </vt:lpstr>
      <vt:lpstr>Impact : How This Helps Decision-Makers </vt:lpstr>
      <vt:lpstr>Conclusion : What We Achieved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Omar Gaber</cp:lastModifiedBy>
  <cp:revision>2</cp:revision>
  <dcterms:created xsi:type="dcterms:W3CDTF">2025-12-11T11:15:25Z</dcterms:created>
  <dcterms:modified xsi:type="dcterms:W3CDTF">2025-12-11T13:40:29Z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2025-12-11T00:00:00Z</vt:filetime>
  </property>
  <property fmtid="{D5CDD505-2E9C-101B-9397-08002B2CF9AE}" pid="3" name="LastSaved">
    <vt:filetime>2025-12-11T00:00:00Z</vt:filetime>
  </property>
</Properties>
</file>